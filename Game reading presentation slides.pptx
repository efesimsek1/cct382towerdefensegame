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Average"/>
      <p:regular r:id="rId30"/>
    </p:embeddedFont>
    <p:embeddedFont>
      <p:font typeface="Oswal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regular.fntdata"/><Relationship Id="rId30" Type="http://schemas.openxmlformats.org/officeDocument/2006/relationships/font" Target="fonts/Average-regular.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9bd59ddc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9bd59ddc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9bd59ddc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9bd59ddc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9bd59ddc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9bd59ddc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57c5951d7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57c5951d7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9f6a274d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9f6a274d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698e5a8f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698e5a8f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698e5a8f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698e5a8f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698e5a8f5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698e5a8f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698e5a8f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698e5a8f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698e5a8f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698e5a8f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698e5a8f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698e5a8f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698e5a8f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698e5a8f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57c5951d7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57c5951d7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5bb36dc6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5bb36dc6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5bb36dc6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5bb36dc6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5bb36dc6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5bb36dc6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5bb36dc6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5bb36dc6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5bb36dc6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5bb36dc6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5bb36dc6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5bb36dc6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698e5a8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698e5a8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698e5a8f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698e5a8f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698e5a8f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698e5a8f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698e5a8f5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698e5a8f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17.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4.jpg"/><Relationship Id="rId4" Type="http://schemas.openxmlformats.org/officeDocument/2006/relationships/image" Target="../media/image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747738" y="0"/>
            <a:ext cx="7648500" cy="81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3500"/>
              <a:t>The Pinch: </a:t>
            </a:r>
            <a:r>
              <a:rPr lang="en-GB" sz="3500"/>
              <a:t>Economies, Exploitation, Item</a:t>
            </a:r>
            <a:endParaRPr sz="3500"/>
          </a:p>
        </p:txBody>
      </p:sp>
      <p:sp>
        <p:nvSpPr>
          <p:cNvPr id="60" name="Google Shape;60;p13"/>
          <p:cNvSpPr txBox="1"/>
          <p:nvPr>
            <p:ph idx="1" type="subTitle"/>
          </p:nvPr>
        </p:nvSpPr>
        <p:spPr>
          <a:xfrm>
            <a:off x="4257625" y="4518300"/>
            <a:ext cx="4886400" cy="4329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200000"/>
              </a:lnSpc>
              <a:spcBef>
                <a:spcPts val="0"/>
              </a:spcBef>
              <a:spcAft>
                <a:spcPts val="0"/>
              </a:spcAft>
              <a:buNone/>
            </a:pPr>
            <a:r>
              <a:rPr lang="en-GB" sz="1600">
                <a:solidFill>
                  <a:schemeClr val="dk1"/>
                </a:solidFill>
                <a:latin typeface="Times New Roman"/>
                <a:ea typeface="Times New Roman"/>
                <a:cs typeface="Times New Roman"/>
                <a:sym typeface="Times New Roman"/>
              </a:rPr>
              <a:t>Presenters: Syed Hassan Pirzada &amp; Joshua Wuebbolt </a:t>
            </a:r>
            <a:endParaRPr sz="1600">
              <a:solidFill>
                <a:schemeClr val="dk1"/>
              </a:solidFill>
              <a:latin typeface="Times New Roman"/>
              <a:ea typeface="Times New Roman"/>
              <a:cs typeface="Times New Roman"/>
              <a:sym typeface="Times New Roman"/>
            </a:endParaRPr>
          </a:p>
        </p:txBody>
      </p:sp>
      <p:pic>
        <p:nvPicPr>
          <p:cNvPr id="61" name="Google Shape;61;p13"/>
          <p:cNvPicPr preferRelativeResize="0"/>
          <p:nvPr/>
        </p:nvPicPr>
        <p:blipFill>
          <a:blip r:embed="rId3">
            <a:alphaModFix/>
          </a:blip>
          <a:stretch>
            <a:fillRect/>
          </a:stretch>
        </p:blipFill>
        <p:spPr>
          <a:xfrm>
            <a:off x="2349693" y="1707000"/>
            <a:ext cx="4693750" cy="2565134"/>
          </a:xfrm>
          <a:prstGeom prst="rect">
            <a:avLst/>
          </a:prstGeom>
          <a:noFill/>
          <a:ln>
            <a:noFill/>
          </a:ln>
        </p:spPr>
      </p:pic>
      <p:pic>
        <p:nvPicPr>
          <p:cNvPr id="62" name="Google Shape;62;p13"/>
          <p:cNvPicPr preferRelativeResize="0"/>
          <p:nvPr/>
        </p:nvPicPr>
        <p:blipFill rotWithShape="1">
          <a:blip r:embed="rId4">
            <a:alphaModFix/>
          </a:blip>
          <a:srcRect b="-7529" l="0" r="0" t="7530"/>
          <a:stretch/>
        </p:blipFill>
        <p:spPr>
          <a:xfrm>
            <a:off x="3123000" y="717912"/>
            <a:ext cx="1954325" cy="900825"/>
          </a:xfrm>
          <a:prstGeom prst="rect">
            <a:avLst/>
          </a:prstGeom>
          <a:noFill/>
          <a:ln>
            <a:noFill/>
          </a:ln>
        </p:spPr>
      </p:pic>
      <p:sp>
        <p:nvSpPr>
          <p:cNvPr id="63" name="Google Shape;63;p13"/>
          <p:cNvSpPr txBox="1"/>
          <p:nvPr/>
        </p:nvSpPr>
        <p:spPr>
          <a:xfrm>
            <a:off x="4043450" y="875825"/>
            <a:ext cx="3000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600">
                <a:solidFill>
                  <a:schemeClr val="accent5"/>
                </a:solidFill>
                <a:latin typeface="Oswald"/>
                <a:ea typeface="Oswald"/>
                <a:cs typeface="Oswald"/>
                <a:sym typeface="Oswald"/>
              </a:rPr>
              <a:t>: Gems</a:t>
            </a:r>
            <a:endParaRPr sz="2600">
              <a:solidFill>
                <a:schemeClr val="accent5"/>
              </a:solidFill>
              <a:latin typeface="Oswald"/>
              <a:ea typeface="Oswald"/>
              <a:cs typeface="Oswald"/>
              <a:sym typeface="Oswald"/>
            </a:endParaRPr>
          </a:p>
        </p:txBody>
      </p:sp>
      <p:sp>
        <p:nvSpPr>
          <p:cNvPr id="64" name="Google Shape;64;p13"/>
          <p:cNvSpPr txBox="1"/>
          <p:nvPr/>
        </p:nvSpPr>
        <p:spPr>
          <a:xfrm>
            <a:off x="-382337" y="3721275"/>
            <a:ext cx="3000000" cy="13392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GB" sz="1500">
                <a:solidFill>
                  <a:schemeClr val="dk1"/>
                </a:solidFill>
                <a:latin typeface="Times New Roman"/>
                <a:ea typeface="Times New Roman"/>
                <a:cs typeface="Times New Roman"/>
                <a:sym typeface="Times New Roman"/>
              </a:rPr>
              <a:t>CCT382H5</a:t>
            </a:r>
            <a:endParaRPr sz="1500">
              <a:solidFill>
                <a:schemeClr val="dk1"/>
              </a:solidFill>
              <a:latin typeface="Times New Roman"/>
              <a:ea typeface="Times New Roman"/>
              <a:cs typeface="Times New Roman"/>
              <a:sym typeface="Times New Roman"/>
            </a:endParaRPr>
          </a:p>
          <a:p>
            <a:pPr indent="0" lvl="0" marL="0" rtl="0" algn="ctr">
              <a:lnSpc>
                <a:spcPct val="200000"/>
              </a:lnSpc>
              <a:spcBef>
                <a:spcPts val="0"/>
              </a:spcBef>
              <a:spcAft>
                <a:spcPts val="0"/>
              </a:spcAft>
              <a:buNone/>
            </a:pPr>
            <a:r>
              <a:rPr lang="en-GB" sz="1500">
                <a:solidFill>
                  <a:schemeClr val="dk1"/>
                </a:solidFill>
                <a:latin typeface="Times New Roman"/>
                <a:ea typeface="Times New Roman"/>
                <a:cs typeface="Times New Roman"/>
                <a:sym typeface="Times New Roman"/>
              </a:rPr>
              <a:t>Game Reading Presentation</a:t>
            </a:r>
            <a:endParaRPr sz="1500">
              <a:solidFill>
                <a:schemeClr val="dk1"/>
              </a:solidFill>
              <a:latin typeface="Times New Roman"/>
              <a:ea typeface="Times New Roman"/>
              <a:cs typeface="Times New Roman"/>
              <a:sym typeface="Times New Roman"/>
            </a:endParaRPr>
          </a:p>
          <a:p>
            <a:pPr indent="0" lvl="0" marL="0" rtl="0" algn="ctr">
              <a:lnSpc>
                <a:spcPct val="200000"/>
              </a:lnSpc>
              <a:spcBef>
                <a:spcPts val="0"/>
              </a:spcBef>
              <a:spcAft>
                <a:spcPts val="0"/>
              </a:spcAft>
              <a:buNone/>
            </a:pPr>
            <a:r>
              <a:rPr lang="en-GB" sz="1500">
                <a:solidFill>
                  <a:schemeClr val="dk1"/>
                </a:solidFill>
                <a:latin typeface="Times New Roman"/>
                <a:ea typeface="Times New Roman"/>
                <a:cs typeface="Times New Roman"/>
                <a:sym typeface="Times New Roman"/>
              </a:rPr>
              <a:t>Professor Michael Nixon</a:t>
            </a:r>
            <a:endParaRPr sz="1500">
              <a:solidFill>
                <a:schemeClr val="dk1"/>
              </a:solidFill>
              <a:latin typeface="Times New Roman"/>
              <a:ea typeface="Times New Roman"/>
              <a:cs typeface="Times New Roman"/>
              <a:sym typeface="Times New Roman"/>
            </a:endParaRPr>
          </a:p>
        </p:txBody>
      </p:sp>
      <p:pic>
        <p:nvPicPr>
          <p:cNvPr id="65" name="Google Shape;65;p13"/>
          <p:cNvPicPr preferRelativeResize="0"/>
          <p:nvPr/>
        </p:nvPicPr>
        <p:blipFill>
          <a:blip r:embed="rId5">
            <a:alphaModFix/>
          </a:blip>
          <a:stretch>
            <a:fillRect/>
          </a:stretch>
        </p:blipFill>
        <p:spPr>
          <a:xfrm>
            <a:off x="6209225" y="1524838"/>
            <a:ext cx="3810000" cy="2095500"/>
          </a:xfrm>
          <a:prstGeom prst="rect">
            <a:avLst/>
          </a:prstGeom>
          <a:noFill/>
          <a:ln>
            <a:noFill/>
          </a:ln>
        </p:spPr>
      </p:pic>
      <p:pic>
        <p:nvPicPr>
          <p:cNvPr id="66" name="Google Shape;66;p13"/>
          <p:cNvPicPr preferRelativeResize="0"/>
          <p:nvPr/>
        </p:nvPicPr>
        <p:blipFill>
          <a:blip r:embed="rId6">
            <a:alphaModFix/>
          </a:blip>
          <a:stretch>
            <a:fillRect/>
          </a:stretch>
        </p:blipFill>
        <p:spPr>
          <a:xfrm>
            <a:off x="152400" y="1182550"/>
            <a:ext cx="2044893" cy="150775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70" name="Shape 70"/>
        <p:cNvGrpSpPr/>
        <p:nvPr/>
      </p:nvGrpSpPr>
      <p:grpSpPr>
        <a:xfrm>
          <a:off x="0" y="0"/>
          <a:ext cx="0" cy="0"/>
          <a:chOff x="0" y="0"/>
          <a:chExt cx="0" cy="0"/>
        </a:xfrm>
      </p:grpSpPr>
      <p:sp>
        <p:nvSpPr>
          <p:cNvPr id="71" name="Google Shape;71;p14"/>
          <p:cNvSpPr txBox="1"/>
          <p:nvPr>
            <p:ph type="title"/>
          </p:nvPr>
        </p:nvSpPr>
        <p:spPr>
          <a:xfrm>
            <a:off x="112200" y="313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Introduction - The Pinch: Economy, </a:t>
            </a:r>
            <a:r>
              <a:rPr lang="en-GB"/>
              <a:t>Rarity,</a:t>
            </a:r>
            <a:r>
              <a:rPr lang="en-GB"/>
              <a:t> Items</a:t>
            </a:r>
            <a:endParaRPr/>
          </a:p>
        </p:txBody>
      </p:sp>
      <p:sp>
        <p:nvSpPr>
          <p:cNvPr id="72" name="Google Shape;72;p14"/>
          <p:cNvSpPr txBox="1"/>
          <p:nvPr>
            <p:ph idx="1" type="body"/>
          </p:nvPr>
        </p:nvSpPr>
        <p:spPr>
          <a:xfrm>
            <a:off x="112200" y="1152600"/>
            <a:ext cx="7019700" cy="3990900"/>
          </a:xfrm>
          <a:prstGeom prst="rect">
            <a:avLst/>
          </a:prstGeom>
        </p:spPr>
        <p:txBody>
          <a:bodyPr anchorCtr="0" anchor="t" bIns="91425" lIns="91425" spcFirstLastPara="1" rIns="91425" wrap="square" tIns="91425">
            <a:normAutofit fontScale="40000"/>
          </a:bodyPr>
          <a:lstStyle/>
          <a:p>
            <a:pPr indent="0" lvl="0" marL="0" rtl="0" algn="l">
              <a:spcBef>
                <a:spcPts val="0"/>
              </a:spcBef>
              <a:spcAft>
                <a:spcPts val="0"/>
              </a:spcAft>
              <a:buNone/>
            </a:pPr>
            <a:r>
              <a:rPr lang="en-GB" sz="3700">
                <a:solidFill>
                  <a:schemeClr val="dk1"/>
                </a:solidFill>
                <a:latin typeface="Oswald"/>
                <a:ea typeface="Oswald"/>
                <a:cs typeface="Oswald"/>
                <a:sym typeface="Oswald"/>
              </a:rPr>
              <a:t>The Pinch</a:t>
            </a:r>
            <a:endParaRPr sz="3700">
              <a:solidFill>
                <a:schemeClr val="dk1"/>
              </a:solidFill>
              <a:latin typeface="Oswald"/>
              <a:ea typeface="Oswald"/>
              <a:cs typeface="Oswald"/>
              <a:sym typeface="Oswald"/>
            </a:endParaRPr>
          </a:p>
          <a:p>
            <a:pPr indent="-322580" lvl="0" marL="457200" rtl="0" algn="l">
              <a:spcBef>
                <a:spcPts val="1200"/>
              </a:spcBef>
              <a:spcAft>
                <a:spcPts val="0"/>
              </a:spcAft>
              <a:buClr>
                <a:schemeClr val="dk1"/>
              </a:buClr>
              <a:buSzPct val="100000"/>
              <a:buFont typeface="Oswald"/>
              <a:buChar char="●"/>
            </a:pPr>
            <a:r>
              <a:rPr lang="en-GB" sz="3700">
                <a:solidFill>
                  <a:schemeClr val="dk1"/>
                </a:solidFill>
                <a:latin typeface="Oswald"/>
                <a:ea typeface="Oswald"/>
                <a:cs typeface="Oswald"/>
                <a:sym typeface="Oswald"/>
              </a:rPr>
              <a:t>Key concept that refers to the moment in gameplay a player feels slowed down or stuck</a:t>
            </a:r>
            <a:endParaRPr sz="3700">
              <a:solidFill>
                <a:schemeClr val="dk1"/>
              </a:solidFill>
              <a:latin typeface="Oswald"/>
              <a:ea typeface="Oswald"/>
              <a:cs typeface="Oswald"/>
              <a:sym typeface="Oswald"/>
            </a:endParaRPr>
          </a:p>
          <a:p>
            <a:pPr indent="-322580" lvl="0" marL="457200" rtl="0" algn="l">
              <a:spcBef>
                <a:spcPts val="0"/>
              </a:spcBef>
              <a:spcAft>
                <a:spcPts val="0"/>
              </a:spcAft>
              <a:buClr>
                <a:schemeClr val="dk1"/>
              </a:buClr>
              <a:buSzPct val="100000"/>
              <a:buFont typeface="Oswald"/>
              <a:buChar char="●"/>
            </a:pPr>
            <a:r>
              <a:rPr lang="en-GB" sz="3700">
                <a:solidFill>
                  <a:schemeClr val="dk1"/>
                </a:solidFill>
                <a:latin typeface="Oswald"/>
                <a:ea typeface="Oswald"/>
                <a:cs typeface="Oswald"/>
                <a:sym typeface="Oswald"/>
              </a:rPr>
              <a:t>Intentional game strategy that pressures players to spend more time, effort, or money</a:t>
            </a:r>
            <a:endParaRPr sz="3700"/>
          </a:p>
          <a:p>
            <a:pPr indent="0" lvl="0" marL="0" rtl="0" algn="l">
              <a:spcBef>
                <a:spcPts val="1200"/>
              </a:spcBef>
              <a:spcAft>
                <a:spcPts val="0"/>
              </a:spcAft>
              <a:buNone/>
            </a:pPr>
            <a:r>
              <a:rPr lang="en-GB" sz="3700">
                <a:solidFill>
                  <a:schemeClr val="dk1"/>
                </a:solidFill>
                <a:latin typeface="Oswald"/>
                <a:ea typeface="Oswald"/>
                <a:cs typeface="Oswald"/>
                <a:sym typeface="Oswald"/>
              </a:rPr>
              <a:t>Economies</a:t>
            </a:r>
            <a:endParaRPr sz="3700">
              <a:solidFill>
                <a:schemeClr val="dk1"/>
              </a:solidFill>
              <a:latin typeface="Oswald"/>
              <a:ea typeface="Oswald"/>
              <a:cs typeface="Oswald"/>
              <a:sym typeface="Oswald"/>
            </a:endParaRPr>
          </a:p>
          <a:p>
            <a:pPr indent="-322580" lvl="0" marL="457200" rtl="0" algn="l">
              <a:spcBef>
                <a:spcPts val="1200"/>
              </a:spcBef>
              <a:spcAft>
                <a:spcPts val="0"/>
              </a:spcAft>
              <a:buClr>
                <a:schemeClr val="dk1"/>
              </a:buClr>
              <a:buSzPct val="100000"/>
              <a:buFont typeface="Oswald"/>
              <a:buChar char="●"/>
            </a:pPr>
            <a:r>
              <a:rPr lang="en-GB" sz="3700">
                <a:solidFill>
                  <a:schemeClr val="dk1"/>
                </a:solidFill>
                <a:latin typeface="Oswald"/>
                <a:ea typeface="Oswald"/>
                <a:cs typeface="Oswald"/>
                <a:sym typeface="Oswald"/>
              </a:rPr>
              <a:t>In-game economies are built around these pinches, developers create limited quantity items so players feel scarcity of resources</a:t>
            </a:r>
            <a:endParaRPr sz="3700">
              <a:solidFill>
                <a:schemeClr val="dk1"/>
              </a:solidFill>
              <a:latin typeface="Oswald"/>
              <a:ea typeface="Oswald"/>
              <a:cs typeface="Oswald"/>
              <a:sym typeface="Oswald"/>
            </a:endParaRPr>
          </a:p>
          <a:p>
            <a:pPr indent="0" lvl="0" marL="0" rtl="0" algn="l">
              <a:spcBef>
                <a:spcPts val="1200"/>
              </a:spcBef>
              <a:spcAft>
                <a:spcPts val="0"/>
              </a:spcAft>
              <a:buNone/>
            </a:pPr>
            <a:r>
              <a:rPr lang="en-GB" sz="3700">
                <a:solidFill>
                  <a:schemeClr val="dk1"/>
                </a:solidFill>
                <a:latin typeface="Oswald"/>
                <a:ea typeface="Oswald"/>
                <a:cs typeface="Oswald"/>
                <a:sym typeface="Oswald"/>
              </a:rPr>
              <a:t>Rarity</a:t>
            </a:r>
            <a:endParaRPr sz="3700">
              <a:solidFill>
                <a:schemeClr val="dk1"/>
              </a:solidFill>
              <a:latin typeface="Oswald"/>
              <a:ea typeface="Oswald"/>
              <a:cs typeface="Oswald"/>
              <a:sym typeface="Oswald"/>
            </a:endParaRPr>
          </a:p>
          <a:p>
            <a:pPr indent="-322580" lvl="0" marL="457200" rtl="0" algn="l">
              <a:spcBef>
                <a:spcPts val="1200"/>
              </a:spcBef>
              <a:spcAft>
                <a:spcPts val="0"/>
              </a:spcAft>
              <a:buClr>
                <a:schemeClr val="dk1"/>
              </a:buClr>
              <a:buSzPct val="100000"/>
              <a:buFont typeface="Oswald"/>
              <a:buChar char="●"/>
            </a:pPr>
            <a:r>
              <a:rPr lang="en-GB" sz="3700">
                <a:solidFill>
                  <a:schemeClr val="dk1"/>
                </a:solidFill>
                <a:latin typeface="Oswald"/>
                <a:ea typeface="Oswald"/>
                <a:cs typeface="Oswald"/>
                <a:sym typeface="Oswald"/>
              </a:rPr>
              <a:t>The rarity of an item has an impact because the rarer an item is the more power it has to overcome the pinch</a:t>
            </a:r>
            <a:endParaRPr sz="3500">
              <a:latin typeface="Oswald"/>
              <a:ea typeface="Oswald"/>
              <a:cs typeface="Oswald"/>
              <a:sym typeface="Oswald"/>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73" name="Google Shape;73;p14"/>
          <p:cNvPicPr preferRelativeResize="0"/>
          <p:nvPr/>
        </p:nvPicPr>
        <p:blipFill>
          <a:blip r:embed="rId3">
            <a:alphaModFix/>
          </a:blip>
          <a:stretch>
            <a:fillRect/>
          </a:stretch>
        </p:blipFill>
        <p:spPr>
          <a:xfrm>
            <a:off x="6746401" y="211351"/>
            <a:ext cx="2264026" cy="2264026"/>
          </a:xfrm>
          <a:prstGeom prst="rect">
            <a:avLst/>
          </a:prstGeom>
          <a:noFill/>
          <a:ln>
            <a:noFill/>
          </a:ln>
        </p:spPr>
      </p:pic>
      <p:pic>
        <p:nvPicPr>
          <p:cNvPr id="74" name="Google Shape;74;p14"/>
          <p:cNvPicPr preferRelativeResize="0"/>
          <p:nvPr/>
        </p:nvPicPr>
        <p:blipFill>
          <a:blip r:embed="rId4">
            <a:alphaModFix/>
          </a:blip>
          <a:stretch>
            <a:fillRect/>
          </a:stretch>
        </p:blipFill>
        <p:spPr>
          <a:xfrm>
            <a:off x="6843700" y="2921747"/>
            <a:ext cx="2166725" cy="1867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Introduction - Clash Of Clans: Gems</a:t>
            </a:r>
            <a:endParaRPr/>
          </a:p>
        </p:txBody>
      </p:sp>
      <p:sp>
        <p:nvSpPr>
          <p:cNvPr id="80" name="Google Shape;80;p15"/>
          <p:cNvSpPr txBox="1"/>
          <p:nvPr>
            <p:ph idx="1" type="body"/>
          </p:nvPr>
        </p:nvSpPr>
        <p:spPr>
          <a:xfrm>
            <a:off x="196950" y="1142050"/>
            <a:ext cx="6594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chemeClr val="dk1"/>
                </a:solidFill>
                <a:latin typeface="Oswald"/>
                <a:ea typeface="Oswald"/>
                <a:cs typeface="Oswald"/>
                <a:sym typeface="Oswald"/>
              </a:rPr>
              <a:t>Clash of Clans</a:t>
            </a:r>
            <a:endParaRPr sz="1400">
              <a:solidFill>
                <a:schemeClr val="dk1"/>
              </a:solidFill>
              <a:latin typeface="Oswald"/>
              <a:ea typeface="Oswald"/>
              <a:cs typeface="Oswald"/>
              <a:sym typeface="Oswald"/>
            </a:endParaRPr>
          </a:p>
          <a:p>
            <a:pPr indent="-317500" lvl="0" marL="457200" rtl="0" algn="l">
              <a:spcBef>
                <a:spcPts val="120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Popular global free to play mobile video game</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Progression is made through collecting resources, upgrading buildings, waiting through long wait times</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Game design embodies slow progression and scarcity of resources referring to the concept of The Pinch</a:t>
            </a:r>
            <a:endParaRPr sz="1400">
              <a:solidFill>
                <a:schemeClr val="dk1"/>
              </a:solidFill>
              <a:latin typeface="Oswald"/>
              <a:ea typeface="Oswald"/>
              <a:cs typeface="Oswald"/>
              <a:sym typeface="Oswald"/>
            </a:endParaRPr>
          </a:p>
          <a:p>
            <a:pPr indent="0" lvl="0" marL="0" rtl="0" algn="l">
              <a:spcBef>
                <a:spcPts val="1200"/>
              </a:spcBef>
              <a:spcAft>
                <a:spcPts val="0"/>
              </a:spcAft>
              <a:buNone/>
            </a:pPr>
            <a:r>
              <a:rPr lang="en-GB" sz="1400">
                <a:solidFill>
                  <a:schemeClr val="dk1"/>
                </a:solidFill>
                <a:latin typeface="Oswald"/>
                <a:ea typeface="Oswald"/>
                <a:cs typeface="Oswald"/>
                <a:sym typeface="Oswald"/>
              </a:rPr>
              <a:t>Gems</a:t>
            </a:r>
            <a:endParaRPr sz="1400">
              <a:solidFill>
                <a:schemeClr val="dk1"/>
              </a:solidFill>
              <a:latin typeface="Oswald"/>
              <a:ea typeface="Oswald"/>
              <a:cs typeface="Oswald"/>
              <a:sym typeface="Oswald"/>
            </a:endParaRPr>
          </a:p>
          <a:p>
            <a:pPr indent="-317500" lvl="0" marL="457200" rtl="0" algn="l">
              <a:spcBef>
                <a:spcPts val="120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Premium currency used to buy resources, instantly upgrade buildings, and skip through long wait times</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Represents the most direct way to relieve a pinch whenever progress becomes slow </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Shortcut to instantly progress forward</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Very hard to obtain through normal play and strongly connected to real money purchases</a:t>
            </a:r>
            <a:endParaRPr sz="1400">
              <a:solidFill>
                <a:schemeClr val="dk1"/>
              </a:solidFill>
              <a:latin typeface="Oswald"/>
              <a:ea typeface="Oswald"/>
              <a:cs typeface="Oswald"/>
              <a:sym typeface="Oswald"/>
            </a:endParaRPr>
          </a:p>
        </p:txBody>
      </p:sp>
      <p:pic>
        <p:nvPicPr>
          <p:cNvPr id="81" name="Google Shape;81;p15"/>
          <p:cNvPicPr preferRelativeResize="0"/>
          <p:nvPr/>
        </p:nvPicPr>
        <p:blipFill>
          <a:blip r:embed="rId3">
            <a:alphaModFix/>
          </a:blip>
          <a:stretch>
            <a:fillRect/>
          </a:stretch>
        </p:blipFill>
        <p:spPr>
          <a:xfrm>
            <a:off x="7138344" y="2984525"/>
            <a:ext cx="1448050" cy="1803450"/>
          </a:xfrm>
          <a:prstGeom prst="rect">
            <a:avLst/>
          </a:prstGeom>
          <a:noFill/>
          <a:ln>
            <a:noFill/>
          </a:ln>
        </p:spPr>
      </p:pic>
      <p:pic>
        <p:nvPicPr>
          <p:cNvPr id="82" name="Google Shape;82;p15"/>
          <p:cNvPicPr preferRelativeResize="0"/>
          <p:nvPr/>
        </p:nvPicPr>
        <p:blipFill>
          <a:blip r:embed="rId4">
            <a:alphaModFix/>
          </a:blip>
          <a:stretch>
            <a:fillRect/>
          </a:stretch>
        </p:blipFill>
        <p:spPr>
          <a:xfrm>
            <a:off x="6821900" y="234650"/>
            <a:ext cx="2080951" cy="22640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86" name="Shape 86"/>
        <p:cNvGrpSpPr/>
        <p:nvPr/>
      </p:nvGrpSpPr>
      <p:grpSpPr>
        <a:xfrm>
          <a:off x="0" y="0"/>
          <a:ext cx="0" cy="0"/>
          <a:chOff x="0" y="0"/>
          <a:chExt cx="0" cy="0"/>
        </a:xfrm>
      </p:grpSpPr>
      <p:sp>
        <p:nvSpPr>
          <p:cNvPr id="87" name="Google Shape;87;p16"/>
          <p:cNvSpPr txBox="1"/>
          <p:nvPr>
            <p:ph type="title"/>
          </p:nvPr>
        </p:nvSpPr>
        <p:spPr>
          <a:xfrm>
            <a:off x="241525" y="413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Application of Gems in Clash of Clans</a:t>
            </a:r>
            <a:endParaRPr/>
          </a:p>
        </p:txBody>
      </p:sp>
      <p:pic>
        <p:nvPicPr>
          <p:cNvPr id="88" name="Google Shape;88;p16"/>
          <p:cNvPicPr preferRelativeResize="0"/>
          <p:nvPr/>
        </p:nvPicPr>
        <p:blipFill>
          <a:blip r:embed="rId3">
            <a:alphaModFix/>
          </a:blip>
          <a:stretch>
            <a:fillRect/>
          </a:stretch>
        </p:blipFill>
        <p:spPr>
          <a:xfrm>
            <a:off x="368250" y="1905675"/>
            <a:ext cx="2333900" cy="1883700"/>
          </a:xfrm>
          <a:prstGeom prst="rect">
            <a:avLst/>
          </a:prstGeom>
          <a:noFill/>
          <a:ln>
            <a:noFill/>
          </a:ln>
        </p:spPr>
      </p:pic>
      <p:pic>
        <p:nvPicPr>
          <p:cNvPr id="89" name="Google Shape;89;p16"/>
          <p:cNvPicPr preferRelativeResize="0"/>
          <p:nvPr/>
        </p:nvPicPr>
        <p:blipFill rotWithShape="1">
          <a:blip r:embed="rId4">
            <a:alphaModFix/>
          </a:blip>
          <a:srcRect b="4569" l="0" r="0" t="-4569"/>
          <a:stretch/>
        </p:blipFill>
        <p:spPr>
          <a:xfrm>
            <a:off x="6754268" y="1670675"/>
            <a:ext cx="2106208" cy="1979825"/>
          </a:xfrm>
          <a:prstGeom prst="rect">
            <a:avLst/>
          </a:prstGeom>
          <a:noFill/>
          <a:ln>
            <a:noFill/>
          </a:ln>
        </p:spPr>
      </p:pic>
      <p:pic>
        <p:nvPicPr>
          <p:cNvPr id="90" name="Google Shape;90;p16"/>
          <p:cNvPicPr preferRelativeResize="0"/>
          <p:nvPr/>
        </p:nvPicPr>
        <p:blipFill rotWithShape="1">
          <a:blip r:embed="rId5">
            <a:alphaModFix/>
          </a:blip>
          <a:srcRect b="0" l="0" r="19955" t="0"/>
          <a:stretch/>
        </p:blipFill>
        <p:spPr>
          <a:xfrm>
            <a:off x="3202950" y="1905675"/>
            <a:ext cx="2597742" cy="1802175"/>
          </a:xfrm>
          <a:prstGeom prst="rect">
            <a:avLst/>
          </a:prstGeom>
          <a:noFill/>
          <a:ln>
            <a:noFill/>
          </a:ln>
        </p:spPr>
      </p:pic>
      <p:sp>
        <p:nvSpPr>
          <p:cNvPr id="91" name="Google Shape;91;p16"/>
          <p:cNvSpPr txBox="1"/>
          <p:nvPr/>
        </p:nvSpPr>
        <p:spPr>
          <a:xfrm>
            <a:off x="816900" y="379625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Oswald"/>
                <a:ea typeface="Oswald"/>
                <a:cs typeface="Oswald"/>
                <a:sym typeface="Oswald"/>
              </a:rPr>
              <a:t>Buying Resources</a:t>
            </a:r>
            <a:endParaRPr/>
          </a:p>
        </p:txBody>
      </p:sp>
      <p:sp>
        <p:nvSpPr>
          <p:cNvPr id="92" name="Google Shape;92;p16"/>
          <p:cNvSpPr txBox="1"/>
          <p:nvPr/>
        </p:nvSpPr>
        <p:spPr>
          <a:xfrm>
            <a:off x="3754275" y="379625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Oswald"/>
                <a:ea typeface="Oswald"/>
                <a:cs typeface="Oswald"/>
                <a:sym typeface="Oswald"/>
              </a:rPr>
              <a:t>Skipping Wait Times</a:t>
            </a:r>
            <a:endParaRPr/>
          </a:p>
        </p:txBody>
      </p:sp>
      <p:sp>
        <p:nvSpPr>
          <p:cNvPr id="93" name="Google Shape;93;p16"/>
          <p:cNvSpPr txBox="1"/>
          <p:nvPr/>
        </p:nvSpPr>
        <p:spPr>
          <a:xfrm>
            <a:off x="7047025" y="379625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latin typeface="Oswald"/>
                <a:ea typeface="Oswald"/>
                <a:cs typeface="Oswald"/>
                <a:sym typeface="Oswald"/>
              </a:rPr>
              <a:t>Buy Another Builder</a:t>
            </a:r>
            <a:endParaRPr/>
          </a:p>
        </p:txBody>
      </p:sp>
      <p:pic>
        <p:nvPicPr>
          <p:cNvPr id="94" name="Google Shape;94;p16"/>
          <p:cNvPicPr preferRelativeResize="0"/>
          <p:nvPr/>
        </p:nvPicPr>
        <p:blipFill>
          <a:blip r:embed="rId6">
            <a:alphaModFix/>
          </a:blip>
          <a:stretch>
            <a:fillRect/>
          </a:stretch>
        </p:blipFill>
        <p:spPr>
          <a:xfrm>
            <a:off x="5032942" y="-74150"/>
            <a:ext cx="3299709" cy="1979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98" name="Shape 98"/>
        <p:cNvGrpSpPr/>
        <p:nvPr/>
      </p:nvGrpSpPr>
      <p:grpSpPr>
        <a:xfrm>
          <a:off x="0" y="0"/>
          <a:ext cx="0" cy="0"/>
          <a:chOff x="0" y="0"/>
          <a:chExt cx="0" cy="0"/>
        </a:xfrm>
      </p:grpSpPr>
      <p:sp>
        <p:nvSpPr>
          <p:cNvPr id="99" name="Google Shape;9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Connection to Readings - Evans</a:t>
            </a:r>
            <a:endParaRPr/>
          </a:p>
        </p:txBody>
      </p:sp>
      <p:sp>
        <p:nvSpPr>
          <p:cNvPr id="100" name="Google Shape;100;p17"/>
          <p:cNvSpPr txBox="1"/>
          <p:nvPr>
            <p:ph idx="1" type="body"/>
          </p:nvPr>
        </p:nvSpPr>
        <p:spPr>
          <a:xfrm>
            <a:off x="176050" y="1268100"/>
            <a:ext cx="6438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solidFill>
                  <a:schemeClr val="dk1"/>
                </a:solidFill>
                <a:latin typeface="Oswald"/>
                <a:ea typeface="Oswald"/>
                <a:cs typeface="Oswald"/>
                <a:sym typeface="Oswald"/>
              </a:rPr>
              <a:t>The economics of free: Freemium games, branding and the impatience economy</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“In particular, the way the games rely on, and exploit, player impatience, points to an additional dimension to their economic structure. Real money in these games does not simply function in the exchange, or ownership, of virtual assets, but also to control the temporal dynamics of the gameplay experience.” (Evans, 2016, p. 24)</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Freemium games create value by controlling time, referred to as temporal dynamics</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Players are not paying for new game content but rather for </a:t>
            </a:r>
            <a:r>
              <a:rPr lang="en-GB" sz="1400">
                <a:solidFill>
                  <a:schemeClr val="dk1"/>
                </a:solidFill>
                <a:latin typeface="Oswald"/>
                <a:ea typeface="Oswald"/>
                <a:cs typeface="Oswald"/>
                <a:sym typeface="Oswald"/>
              </a:rPr>
              <a:t>convenience</a:t>
            </a:r>
            <a:r>
              <a:rPr lang="en-GB" sz="1400">
                <a:solidFill>
                  <a:schemeClr val="dk1"/>
                </a:solidFill>
                <a:latin typeface="Oswald"/>
                <a:ea typeface="Oswald"/>
                <a:cs typeface="Oswald"/>
                <a:sym typeface="Oswald"/>
              </a:rPr>
              <a:t> in gameplay</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Developers delay game experience, and premium currency becomes a direct way to bypass that delay</a:t>
            </a:r>
            <a:endParaRPr sz="1400">
              <a:solidFill>
                <a:schemeClr val="dk1"/>
              </a:solidFill>
              <a:latin typeface="Oswald"/>
              <a:ea typeface="Oswald"/>
              <a:cs typeface="Oswald"/>
              <a:sym typeface="Oswald"/>
            </a:endParaRPr>
          </a:p>
        </p:txBody>
      </p:sp>
      <p:pic>
        <p:nvPicPr>
          <p:cNvPr id="101" name="Google Shape;101;p17"/>
          <p:cNvPicPr preferRelativeResize="0"/>
          <p:nvPr/>
        </p:nvPicPr>
        <p:blipFill>
          <a:blip r:embed="rId3">
            <a:alphaModFix/>
          </a:blip>
          <a:stretch>
            <a:fillRect/>
          </a:stretch>
        </p:blipFill>
        <p:spPr>
          <a:xfrm>
            <a:off x="6614650" y="1017725"/>
            <a:ext cx="2095500" cy="2095500"/>
          </a:xfrm>
          <a:prstGeom prst="rect">
            <a:avLst/>
          </a:prstGeom>
          <a:noFill/>
          <a:ln>
            <a:noFill/>
          </a:ln>
        </p:spPr>
      </p:pic>
      <p:pic>
        <p:nvPicPr>
          <p:cNvPr id="102" name="Google Shape;102;p17"/>
          <p:cNvPicPr preferRelativeResize="0"/>
          <p:nvPr/>
        </p:nvPicPr>
        <p:blipFill>
          <a:blip r:embed="rId4">
            <a:alphaModFix/>
          </a:blip>
          <a:stretch>
            <a:fillRect/>
          </a:stretch>
        </p:blipFill>
        <p:spPr>
          <a:xfrm>
            <a:off x="2925850" y="3562825"/>
            <a:ext cx="2457700" cy="1382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Connection to Readings - Evans</a:t>
            </a:r>
            <a:endParaRPr/>
          </a:p>
          <a:p>
            <a:pPr indent="0" lvl="0" marL="0" rtl="0" algn="l">
              <a:spcBef>
                <a:spcPts val="0"/>
              </a:spcBef>
              <a:spcAft>
                <a:spcPts val="0"/>
              </a:spcAft>
              <a:buNone/>
            </a:pPr>
            <a:r>
              <a:t/>
            </a:r>
            <a:endParaRPr/>
          </a:p>
        </p:txBody>
      </p:sp>
      <p:sp>
        <p:nvSpPr>
          <p:cNvPr id="108" name="Google Shape;108;p18"/>
          <p:cNvSpPr txBox="1"/>
          <p:nvPr>
            <p:ph idx="1" type="body"/>
          </p:nvPr>
        </p:nvSpPr>
        <p:spPr>
          <a:xfrm>
            <a:off x="207350" y="1507200"/>
            <a:ext cx="577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solidFill>
                  <a:schemeClr val="dk1"/>
                </a:solidFill>
                <a:latin typeface="Oswald"/>
                <a:ea typeface="Oswald"/>
                <a:cs typeface="Oswald"/>
                <a:sym typeface="Oswald"/>
              </a:rPr>
              <a:t>Connection to Gems from Clash of Clans</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Perfectly fits Evans freemium model as upgrades can take up to hours, days, and even weeks - this is the temporal dynamic Evan refers to</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Game is structured by making players wait</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Although gems do not provide any new gameplay, they are able to bypass the waiting time</a:t>
            </a:r>
            <a:endParaRPr sz="1400">
              <a:solidFill>
                <a:schemeClr val="dk1"/>
              </a:solidFill>
              <a:latin typeface="Oswald"/>
              <a:ea typeface="Oswald"/>
              <a:cs typeface="Oswald"/>
              <a:sym typeface="Oswald"/>
            </a:endParaRPr>
          </a:p>
          <a:p>
            <a:pPr indent="-317500" lvl="0" marL="457200" rtl="0" algn="l">
              <a:spcBef>
                <a:spcPts val="0"/>
              </a:spcBef>
              <a:spcAft>
                <a:spcPts val="0"/>
              </a:spcAft>
              <a:buClr>
                <a:schemeClr val="dk1"/>
              </a:buClr>
              <a:buSzPts val="1400"/>
              <a:buFont typeface="Oswald"/>
              <a:buChar char="●"/>
            </a:pPr>
            <a:r>
              <a:rPr lang="en-GB" sz="1400">
                <a:solidFill>
                  <a:schemeClr val="dk1"/>
                </a:solidFill>
                <a:latin typeface="Oswald"/>
                <a:ea typeface="Oswald"/>
                <a:cs typeface="Oswald"/>
                <a:sym typeface="Oswald"/>
              </a:rPr>
              <a:t>Ultimately relives the Pinch players might be facing</a:t>
            </a:r>
            <a:endParaRPr sz="1400">
              <a:solidFill>
                <a:schemeClr val="dk1"/>
              </a:solidFill>
              <a:latin typeface="Oswald"/>
              <a:ea typeface="Oswald"/>
              <a:cs typeface="Oswald"/>
              <a:sym typeface="Oswald"/>
            </a:endParaRPr>
          </a:p>
        </p:txBody>
      </p:sp>
      <p:pic>
        <p:nvPicPr>
          <p:cNvPr id="109" name="Google Shape;109;p18"/>
          <p:cNvPicPr preferRelativeResize="0"/>
          <p:nvPr/>
        </p:nvPicPr>
        <p:blipFill>
          <a:blip r:embed="rId3">
            <a:alphaModFix/>
          </a:blip>
          <a:stretch>
            <a:fillRect/>
          </a:stretch>
        </p:blipFill>
        <p:spPr>
          <a:xfrm>
            <a:off x="6113775" y="194650"/>
            <a:ext cx="2200524" cy="2486051"/>
          </a:xfrm>
          <a:prstGeom prst="rect">
            <a:avLst/>
          </a:prstGeom>
          <a:noFill/>
          <a:ln>
            <a:noFill/>
          </a:ln>
        </p:spPr>
      </p:pic>
      <p:pic>
        <p:nvPicPr>
          <p:cNvPr id="110" name="Google Shape;110;p18"/>
          <p:cNvPicPr preferRelativeResize="0"/>
          <p:nvPr/>
        </p:nvPicPr>
        <p:blipFill>
          <a:blip r:embed="rId4">
            <a:alphaModFix/>
          </a:blip>
          <a:stretch>
            <a:fillRect/>
          </a:stretch>
        </p:blipFill>
        <p:spPr>
          <a:xfrm>
            <a:off x="4955700" y="3026375"/>
            <a:ext cx="3482975" cy="19598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D412"/>
        </a:solidFill>
      </p:bgPr>
    </p:bg>
    <p:spTree>
      <p:nvGrpSpPr>
        <p:cNvPr id="114" name="Shape 114"/>
        <p:cNvGrpSpPr/>
        <p:nvPr/>
      </p:nvGrpSpPr>
      <p:grpSpPr>
        <a:xfrm>
          <a:off x="0" y="0"/>
          <a:ext cx="0" cy="0"/>
          <a:chOff x="0" y="0"/>
          <a:chExt cx="0" cy="0"/>
        </a:xfrm>
      </p:grpSpPr>
      <p:sp>
        <p:nvSpPr>
          <p:cNvPr id="115" name="Google Shape;115;p19"/>
          <p:cNvSpPr txBox="1"/>
          <p:nvPr>
            <p:ph type="title"/>
          </p:nvPr>
        </p:nvSpPr>
        <p:spPr>
          <a:xfrm>
            <a:off x="311700" y="259375"/>
            <a:ext cx="8583300" cy="9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5000"/>
              <a:t>Question!</a:t>
            </a:r>
            <a:endParaRPr sz="5000"/>
          </a:p>
        </p:txBody>
      </p:sp>
      <p:sp>
        <p:nvSpPr>
          <p:cNvPr id="116" name="Google Shape;116;p19"/>
          <p:cNvSpPr txBox="1"/>
          <p:nvPr>
            <p:ph idx="1" type="body"/>
          </p:nvPr>
        </p:nvSpPr>
        <p:spPr>
          <a:xfrm>
            <a:off x="311700" y="1235675"/>
            <a:ext cx="4430400" cy="3787800"/>
          </a:xfrm>
          <a:prstGeom prst="rect">
            <a:avLst/>
          </a:prstGeom>
        </p:spPr>
        <p:txBody>
          <a:bodyPr anchorCtr="0" anchor="t" bIns="91425" lIns="91425" spcFirstLastPara="1" rIns="91425" wrap="square" tIns="91425">
            <a:normAutofit/>
          </a:bodyPr>
          <a:lstStyle/>
          <a:p>
            <a:pPr indent="-412750" lvl="0" marL="457200" rtl="0" algn="l">
              <a:spcBef>
                <a:spcPts val="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An example of “The Pinch” in a game</a:t>
            </a:r>
            <a:endParaRPr sz="2900">
              <a:solidFill>
                <a:schemeClr val="dk1"/>
              </a:solidFill>
              <a:latin typeface="Times New Roman"/>
              <a:ea typeface="Times New Roman"/>
              <a:cs typeface="Times New Roman"/>
              <a:sym typeface="Times New Roman"/>
            </a:endParaRPr>
          </a:p>
          <a:p>
            <a:pPr indent="-412750" lvl="0" marL="457200" rtl="0" algn="l">
              <a:spcBef>
                <a:spcPts val="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An example of a Freemium game you played and why you kept playing it</a:t>
            </a:r>
            <a:endParaRPr sz="2900">
              <a:solidFill>
                <a:schemeClr val="dk1"/>
              </a:solidFill>
              <a:latin typeface="Times New Roman"/>
              <a:ea typeface="Times New Roman"/>
              <a:cs typeface="Times New Roman"/>
              <a:sym typeface="Times New Roman"/>
            </a:endParaRPr>
          </a:p>
        </p:txBody>
      </p:sp>
      <p:pic>
        <p:nvPicPr>
          <p:cNvPr id="117" name="Google Shape;117;p19"/>
          <p:cNvPicPr preferRelativeResize="0"/>
          <p:nvPr/>
        </p:nvPicPr>
        <p:blipFill>
          <a:blip r:embed="rId3">
            <a:alphaModFix/>
          </a:blip>
          <a:stretch>
            <a:fillRect/>
          </a:stretch>
        </p:blipFill>
        <p:spPr>
          <a:xfrm>
            <a:off x="4741950" y="353000"/>
            <a:ext cx="4153000" cy="4153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How SuperCel Tricks us into buying Gems</a:t>
            </a:r>
            <a:endParaRPr/>
          </a:p>
        </p:txBody>
      </p:sp>
      <p:pic>
        <p:nvPicPr>
          <p:cNvPr id="123" name="Google Shape;123;p20"/>
          <p:cNvPicPr preferRelativeResize="0"/>
          <p:nvPr/>
        </p:nvPicPr>
        <p:blipFill>
          <a:blip r:embed="rId3">
            <a:alphaModFix/>
          </a:blip>
          <a:stretch>
            <a:fillRect/>
          </a:stretch>
        </p:blipFill>
        <p:spPr>
          <a:xfrm>
            <a:off x="1785638" y="832075"/>
            <a:ext cx="5572725" cy="4174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27" name="Shape 127"/>
        <p:cNvGrpSpPr/>
        <p:nvPr/>
      </p:nvGrpSpPr>
      <p:grpSpPr>
        <a:xfrm>
          <a:off x="0" y="0"/>
          <a:ext cx="0" cy="0"/>
          <a:chOff x="0" y="0"/>
          <a:chExt cx="0" cy="0"/>
        </a:xfrm>
      </p:grpSpPr>
      <p:sp>
        <p:nvSpPr>
          <p:cNvPr id="128" name="Google Shape;128;p21"/>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Money spent is obstructed by Gems</a:t>
            </a:r>
            <a:endParaRPr/>
          </a:p>
        </p:txBody>
      </p:sp>
      <p:sp>
        <p:nvSpPr>
          <p:cNvPr id="129" name="Google Shape;129;p21"/>
          <p:cNvSpPr txBox="1"/>
          <p:nvPr>
            <p:ph idx="1" type="body"/>
          </p:nvPr>
        </p:nvSpPr>
        <p:spPr>
          <a:xfrm>
            <a:off x="311700" y="1152475"/>
            <a:ext cx="4440600" cy="159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You cannot directly buy gold or elixir</a:t>
            </a:r>
            <a:endParaRPr>
              <a:latin typeface="Impact"/>
              <a:ea typeface="Impact"/>
              <a:cs typeface="Impact"/>
              <a:sym typeface="Impact"/>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Don’t conceptualize the true dollar value of your purchase</a:t>
            </a:r>
            <a:endParaRPr>
              <a:latin typeface="Times New Roman"/>
              <a:ea typeface="Times New Roman"/>
              <a:cs typeface="Times New Roman"/>
              <a:sym typeface="Times New Roman"/>
            </a:endParaRPr>
          </a:p>
        </p:txBody>
      </p:sp>
      <p:sp>
        <p:nvSpPr>
          <p:cNvPr id="130" name="Google Shape;130;p21"/>
          <p:cNvSpPr txBox="1"/>
          <p:nvPr>
            <p:ph idx="1" type="body"/>
          </p:nvPr>
        </p:nvSpPr>
        <p:spPr>
          <a:xfrm>
            <a:off x="4866150" y="3150275"/>
            <a:ext cx="4149900" cy="1993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latin typeface="Impact"/>
                <a:ea typeface="Impact"/>
                <a:cs typeface="Impact"/>
                <a:sym typeface="Impact"/>
              </a:rPr>
              <a:t>Exact cost is unclear</a:t>
            </a:r>
            <a:endParaRPr>
              <a:latin typeface="Times New Roman"/>
              <a:ea typeface="Times New Roman"/>
              <a:cs typeface="Times New Roman"/>
              <a:sym typeface="Times New Roman"/>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You didn’t spend $15, you spent 1200 gems</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There is no set value for gems or resources so it's hard to say how much you spent.</a:t>
            </a:r>
            <a:endParaRPr>
              <a:latin typeface="Times New Roman"/>
              <a:ea typeface="Times New Roman"/>
              <a:cs typeface="Times New Roman"/>
              <a:sym typeface="Times New Roman"/>
            </a:endParaRPr>
          </a:p>
        </p:txBody>
      </p:sp>
      <p:pic>
        <p:nvPicPr>
          <p:cNvPr id="131" name="Google Shape;131;p21"/>
          <p:cNvPicPr preferRelativeResize="0"/>
          <p:nvPr/>
        </p:nvPicPr>
        <p:blipFill>
          <a:blip r:embed="rId3">
            <a:alphaModFix/>
          </a:blip>
          <a:stretch>
            <a:fillRect/>
          </a:stretch>
        </p:blipFill>
        <p:spPr>
          <a:xfrm>
            <a:off x="152400" y="2895175"/>
            <a:ext cx="4561349" cy="2044589"/>
          </a:xfrm>
          <a:prstGeom prst="rect">
            <a:avLst/>
          </a:prstGeom>
          <a:noFill/>
          <a:ln>
            <a:noFill/>
          </a:ln>
        </p:spPr>
      </p:pic>
      <p:pic>
        <p:nvPicPr>
          <p:cNvPr id="132" name="Google Shape;132;p21"/>
          <p:cNvPicPr preferRelativeResize="0"/>
          <p:nvPr/>
        </p:nvPicPr>
        <p:blipFill>
          <a:blip r:embed="rId4">
            <a:alphaModFix/>
          </a:blip>
          <a:stretch>
            <a:fillRect/>
          </a:stretch>
        </p:blipFill>
        <p:spPr>
          <a:xfrm>
            <a:off x="4904700" y="635425"/>
            <a:ext cx="4062550" cy="24552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36" name="Shape 136"/>
        <p:cNvGrpSpPr/>
        <p:nvPr/>
      </p:nvGrpSpPr>
      <p:grpSpPr>
        <a:xfrm>
          <a:off x="0" y="0"/>
          <a:ext cx="0" cy="0"/>
          <a:chOff x="0" y="0"/>
          <a:chExt cx="0" cy="0"/>
        </a:xfrm>
      </p:grpSpPr>
      <p:sp>
        <p:nvSpPr>
          <p:cNvPr id="137" name="Google Shape;137;p22"/>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Player is Exploited into Buying more Gems</a:t>
            </a:r>
            <a:endParaRPr/>
          </a:p>
        </p:txBody>
      </p:sp>
      <p:sp>
        <p:nvSpPr>
          <p:cNvPr id="138" name="Google Shape;138;p22"/>
          <p:cNvSpPr txBox="1"/>
          <p:nvPr>
            <p:ph idx="1" type="body"/>
          </p:nvPr>
        </p:nvSpPr>
        <p:spPr>
          <a:xfrm>
            <a:off x="141750" y="1162825"/>
            <a:ext cx="4372500" cy="36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Gems are cheaper the more you buy</a:t>
            </a:r>
            <a:endParaRPr>
              <a:latin typeface="Impact"/>
              <a:ea typeface="Impact"/>
              <a:cs typeface="Impact"/>
              <a:sym typeface="Impact"/>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This </a:t>
            </a:r>
            <a:r>
              <a:rPr lang="en-GB">
                <a:latin typeface="Times New Roman"/>
                <a:ea typeface="Times New Roman"/>
                <a:cs typeface="Times New Roman"/>
                <a:sym typeface="Times New Roman"/>
              </a:rPr>
              <a:t>incentivises</a:t>
            </a:r>
            <a:r>
              <a:rPr lang="en-GB">
                <a:latin typeface="Times New Roman"/>
                <a:ea typeface="Times New Roman"/>
                <a:cs typeface="Times New Roman"/>
                <a:sym typeface="Times New Roman"/>
              </a:rPr>
              <a:t> the player to buy more</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You feel like you’re getting ripped off if you don’t get the best value package.</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Impact"/>
                <a:ea typeface="Impact"/>
                <a:cs typeface="Impact"/>
                <a:sym typeface="Impact"/>
              </a:rPr>
              <a:t>Prices don’t end in whole numbers</a:t>
            </a:r>
            <a:endParaRPr>
              <a:latin typeface="Impact"/>
              <a:ea typeface="Impact"/>
              <a:cs typeface="Impact"/>
              <a:sym typeface="Impact"/>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Prices that end in .99, .98, .97 are used to trick our brains into thinking the prices are cheaper.</a:t>
            </a:r>
            <a:endParaRPr>
              <a:latin typeface="Times New Roman"/>
              <a:ea typeface="Times New Roman"/>
              <a:cs typeface="Times New Roman"/>
              <a:sym typeface="Times New Roman"/>
            </a:endParaRPr>
          </a:p>
        </p:txBody>
      </p:sp>
      <p:pic>
        <p:nvPicPr>
          <p:cNvPr id="139" name="Google Shape;139;p22"/>
          <p:cNvPicPr preferRelativeResize="0"/>
          <p:nvPr/>
        </p:nvPicPr>
        <p:blipFill>
          <a:blip r:embed="rId3">
            <a:alphaModFix/>
          </a:blip>
          <a:stretch>
            <a:fillRect/>
          </a:stretch>
        </p:blipFill>
        <p:spPr>
          <a:xfrm>
            <a:off x="4572000" y="853812"/>
            <a:ext cx="4372501" cy="40127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43" name="Shape 143"/>
        <p:cNvGrpSpPr/>
        <p:nvPr/>
      </p:nvGrpSpPr>
      <p:grpSpPr>
        <a:xfrm>
          <a:off x="0" y="0"/>
          <a:ext cx="0" cy="0"/>
          <a:chOff x="0" y="0"/>
          <a:chExt cx="0" cy="0"/>
        </a:xfrm>
      </p:grpSpPr>
      <p:sp>
        <p:nvSpPr>
          <p:cNvPr id="144" name="Google Shape;144;p23"/>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SuperCel Owns a </a:t>
            </a:r>
            <a:r>
              <a:rPr lang="en-GB"/>
              <a:t>Monopoly</a:t>
            </a:r>
            <a:endParaRPr/>
          </a:p>
        </p:txBody>
      </p:sp>
      <p:sp>
        <p:nvSpPr>
          <p:cNvPr id="145" name="Google Shape;145;p23"/>
          <p:cNvSpPr txBox="1"/>
          <p:nvPr>
            <p:ph idx="1" type="body"/>
          </p:nvPr>
        </p:nvSpPr>
        <p:spPr>
          <a:xfrm>
            <a:off x="131400" y="1628950"/>
            <a:ext cx="4440600" cy="328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You cannot get buy Gems from anywhere else</a:t>
            </a:r>
            <a:endParaRPr>
              <a:latin typeface="Impact"/>
              <a:ea typeface="Impact"/>
              <a:cs typeface="Impact"/>
              <a:sym typeface="Impact"/>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No </a:t>
            </a:r>
            <a:r>
              <a:rPr lang="en-GB">
                <a:latin typeface="Times New Roman"/>
                <a:ea typeface="Times New Roman"/>
                <a:cs typeface="Times New Roman"/>
                <a:sym typeface="Times New Roman"/>
              </a:rPr>
              <a:t>marketplace</a:t>
            </a:r>
            <a:r>
              <a:rPr lang="en-GB">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You cannot </a:t>
            </a:r>
            <a:r>
              <a:rPr lang="en-GB">
                <a:latin typeface="Times New Roman"/>
                <a:ea typeface="Times New Roman"/>
                <a:cs typeface="Times New Roman"/>
                <a:sym typeface="Times New Roman"/>
              </a:rPr>
              <a:t>receive</a:t>
            </a:r>
            <a:r>
              <a:rPr lang="en-GB">
                <a:latin typeface="Times New Roman"/>
                <a:ea typeface="Times New Roman"/>
                <a:cs typeface="Times New Roman"/>
                <a:sym typeface="Times New Roman"/>
              </a:rPr>
              <a:t> gems without SuperCel’s approval</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They have full control of the economy</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They get to set the prices as high as they want</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pic>
        <p:nvPicPr>
          <p:cNvPr id="146" name="Google Shape;146;p23"/>
          <p:cNvPicPr preferRelativeResize="0"/>
          <p:nvPr/>
        </p:nvPicPr>
        <p:blipFill>
          <a:blip r:embed="rId3">
            <a:alphaModFix/>
          </a:blip>
          <a:stretch>
            <a:fillRect/>
          </a:stretch>
        </p:blipFill>
        <p:spPr>
          <a:xfrm>
            <a:off x="4560800" y="259375"/>
            <a:ext cx="4440600" cy="444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50" name="Shape 150"/>
        <p:cNvGrpSpPr/>
        <p:nvPr/>
      </p:nvGrpSpPr>
      <p:grpSpPr>
        <a:xfrm>
          <a:off x="0" y="0"/>
          <a:ext cx="0" cy="0"/>
          <a:chOff x="0" y="0"/>
          <a:chExt cx="0" cy="0"/>
        </a:xfrm>
      </p:grpSpPr>
      <p:sp>
        <p:nvSpPr>
          <p:cNvPr id="151" name="Google Shape;151;p24"/>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How </a:t>
            </a:r>
            <a:r>
              <a:rPr lang="en-GB"/>
              <a:t>this Connects to the Pinch</a:t>
            </a:r>
            <a:endParaRPr/>
          </a:p>
        </p:txBody>
      </p:sp>
      <p:sp>
        <p:nvSpPr>
          <p:cNvPr id="152" name="Google Shape;152;p24"/>
          <p:cNvSpPr txBox="1"/>
          <p:nvPr>
            <p:ph idx="1" type="body"/>
          </p:nvPr>
        </p:nvSpPr>
        <p:spPr>
          <a:xfrm>
            <a:off x="4827850" y="1200350"/>
            <a:ext cx="4180500" cy="328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When the player runs out of resources the solution is buying gems, BUT:</a:t>
            </a:r>
            <a:endParaRPr>
              <a:latin typeface="Impact"/>
              <a:ea typeface="Impact"/>
              <a:cs typeface="Impact"/>
              <a:sym typeface="Impact"/>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The true value of gems is hidden from you</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Cost is obstructed</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You cannot buy them anywhere else, there is </a:t>
            </a:r>
            <a:r>
              <a:rPr lang="en-GB">
                <a:latin typeface="Times New Roman"/>
                <a:ea typeface="Times New Roman"/>
                <a:cs typeface="Times New Roman"/>
                <a:sym typeface="Times New Roman"/>
              </a:rPr>
              <a:t>nothing</a:t>
            </a:r>
            <a:r>
              <a:rPr lang="en-GB">
                <a:latin typeface="Times New Roman"/>
                <a:ea typeface="Times New Roman"/>
                <a:cs typeface="Times New Roman"/>
                <a:sym typeface="Times New Roman"/>
              </a:rPr>
              <a:t> cheaper</a:t>
            </a:r>
            <a:endParaRPr>
              <a:latin typeface="Times New Roman"/>
              <a:ea typeface="Times New Roman"/>
              <a:cs typeface="Times New Roman"/>
              <a:sym typeface="Times New Roman"/>
            </a:endParaRPr>
          </a:p>
        </p:txBody>
      </p:sp>
      <p:pic>
        <p:nvPicPr>
          <p:cNvPr id="153" name="Google Shape;153;p24"/>
          <p:cNvPicPr preferRelativeResize="0"/>
          <p:nvPr/>
        </p:nvPicPr>
        <p:blipFill>
          <a:blip r:embed="rId3">
            <a:alphaModFix/>
          </a:blip>
          <a:stretch>
            <a:fillRect/>
          </a:stretch>
        </p:blipFill>
        <p:spPr>
          <a:xfrm flipH="1">
            <a:off x="67275" y="1333100"/>
            <a:ext cx="4685000" cy="3106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D412"/>
        </a:solidFill>
      </p:bgPr>
    </p:bg>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259375"/>
            <a:ext cx="8583300" cy="9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5000"/>
              <a:t>Question!</a:t>
            </a:r>
            <a:endParaRPr sz="5000"/>
          </a:p>
        </p:txBody>
      </p:sp>
      <p:sp>
        <p:nvSpPr>
          <p:cNvPr id="159" name="Google Shape;159;p25"/>
          <p:cNvSpPr txBox="1"/>
          <p:nvPr>
            <p:ph idx="1" type="body"/>
          </p:nvPr>
        </p:nvSpPr>
        <p:spPr>
          <a:xfrm>
            <a:off x="311700" y="1235675"/>
            <a:ext cx="4430400" cy="3787800"/>
          </a:xfrm>
          <a:prstGeom prst="rect">
            <a:avLst/>
          </a:prstGeom>
        </p:spPr>
        <p:txBody>
          <a:bodyPr anchorCtr="0" anchor="t" bIns="91425" lIns="91425" spcFirstLastPara="1" rIns="91425" wrap="square" tIns="91425">
            <a:normAutofit lnSpcReduction="20000"/>
          </a:bodyPr>
          <a:lstStyle/>
          <a:p>
            <a:pPr indent="-412750" lvl="0" marL="457200" rtl="0" algn="l">
              <a:spcBef>
                <a:spcPts val="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Another game that obstructs the true value of its premium currency and how it does that</a:t>
            </a:r>
            <a:endParaRPr sz="2900">
              <a:solidFill>
                <a:schemeClr val="dk1"/>
              </a:solidFill>
              <a:latin typeface="Times New Roman"/>
              <a:ea typeface="Times New Roman"/>
              <a:cs typeface="Times New Roman"/>
              <a:sym typeface="Times New Roman"/>
            </a:endParaRPr>
          </a:p>
          <a:p>
            <a:pPr indent="-412750" lvl="0" marL="457200" rtl="0" algn="l">
              <a:spcBef>
                <a:spcPts val="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A non-gaming example of how stores trick us into buying more.</a:t>
            </a:r>
            <a:endParaRPr sz="29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900">
              <a:solidFill>
                <a:schemeClr val="dk1"/>
              </a:solidFill>
              <a:latin typeface="Times New Roman"/>
              <a:ea typeface="Times New Roman"/>
              <a:cs typeface="Times New Roman"/>
              <a:sym typeface="Times New Roman"/>
            </a:endParaRPr>
          </a:p>
        </p:txBody>
      </p:sp>
      <p:pic>
        <p:nvPicPr>
          <p:cNvPr id="160" name="Google Shape;160;p25"/>
          <p:cNvPicPr preferRelativeResize="0"/>
          <p:nvPr/>
        </p:nvPicPr>
        <p:blipFill>
          <a:blip r:embed="rId3">
            <a:alphaModFix/>
          </a:blip>
          <a:stretch>
            <a:fillRect/>
          </a:stretch>
        </p:blipFill>
        <p:spPr>
          <a:xfrm>
            <a:off x="4741950" y="353000"/>
            <a:ext cx="4153000" cy="4153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64" name="Shape 164"/>
        <p:cNvGrpSpPr/>
        <p:nvPr/>
      </p:nvGrpSpPr>
      <p:grpSpPr>
        <a:xfrm>
          <a:off x="0" y="0"/>
          <a:ext cx="0" cy="0"/>
          <a:chOff x="0" y="0"/>
          <a:chExt cx="0" cy="0"/>
        </a:xfrm>
      </p:grpSpPr>
      <p:sp>
        <p:nvSpPr>
          <p:cNvPr id="165" name="Google Shape;165;p26"/>
          <p:cNvSpPr txBox="1"/>
          <p:nvPr>
            <p:ph type="title"/>
          </p:nvPr>
        </p:nvSpPr>
        <p:spPr>
          <a:xfrm>
            <a:off x="353100" y="3415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How are Premium Currencies made Desirable?</a:t>
            </a:r>
            <a:endParaRPr/>
          </a:p>
        </p:txBody>
      </p:sp>
      <p:pic>
        <p:nvPicPr>
          <p:cNvPr id="166" name="Google Shape;166;p26"/>
          <p:cNvPicPr preferRelativeResize="0"/>
          <p:nvPr/>
        </p:nvPicPr>
        <p:blipFill>
          <a:blip r:embed="rId3">
            <a:alphaModFix/>
          </a:blip>
          <a:stretch>
            <a:fillRect/>
          </a:stretch>
        </p:blipFill>
        <p:spPr>
          <a:xfrm>
            <a:off x="697325" y="914225"/>
            <a:ext cx="7204800" cy="4052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How are Premium Currencies made Desirable?</a:t>
            </a:r>
            <a:endParaRPr/>
          </a:p>
        </p:txBody>
      </p:sp>
      <p:sp>
        <p:nvSpPr>
          <p:cNvPr id="172" name="Google Shape;172;p27"/>
          <p:cNvSpPr txBox="1"/>
          <p:nvPr>
            <p:ph idx="1" type="body"/>
          </p:nvPr>
        </p:nvSpPr>
        <p:spPr>
          <a:xfrm>
            <a:off x="311700" y="1152475"/>
            <a:ext cx="4440600" cy="159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Exploit player impatience</a:t>
            </a:r>
            <a:endParaRPr>
              <a:latin typeface="Impact"/>
              <a:ea typeface="Impact"/>
              <a:cs typeface="Impact"/>
              <a:sym typeface="Impact"/>
            </a:endParaRPr>
          </a:p>
          <a:p>
            <a:pPr indent="0" lvl="0" marL="0" rtl="0" algn="l">
              <a:spcBef>
                <a:spcPts val="1200"/>
              </a:spcBef>
              <a:spcAft>
                <a:spcPts val="1200"/>
              </a:spcAft>
              <a:buNone/>
            </a:pPr>
            <a:r>
              <a:rPr lang="en-GB">
                <a:latin typeface="Times New Roman"/>
                <a:ea typeface="Times New Roman"/>
                <a:cs typeface="Times New Roman"/>
                <a:sym typeface="Times New Roman"/>
              </a:rPr>
              <a:t>Immediate</a:t>
            </a:r>
            <a:r>
              <a:rPr lang="en-GB">
                <a:latin typeface="Times New Roman"/>
                <a:ea typeface="Times New Roman"/>
                <a:cs typeface="Times New Roman"/>
                <a:sym typeface="Times New Roman"/>
              </a:rPr>
              <a:t> Resources</a:t>
            </a:r>
            <a:endParaRPr>
              <a:latin typeface="Times New Roman"/>
              <a:ea typeface="Times New Roman"/>
              <a:cs typeface="Times New Roman"/>
              <a:sym typeface="Times New Roman"/>
            </a:endParaRPr>
          </a:p>
        </p:txBody>
      </p:sp>
      <p:pic>
        <p:nvPicPr>
          <p:cNvPr id="173" name="Google Shape;173;p27"/>
          <p:cNvPicPr preferRelativeResize="0"/>
          <p:nvPr/>
        </p:nvPicPr>
        <p:blipFill>
          <a:blip r:embed="rId3">
            <a:alphaModFix/>
          </a:blip>
          <a:stretch>
            <a:fillRect/>
          </a:stretch>
        </p:blipFill>
        <p:spPr>
          <a:xfrm>
            <a:off x="157925" y="2742625"/>
            <a:ext cx="4646125" cy="2090750"/>
          </a:xfrm>
          <a:prstGeom prst="rect">
            <a:avLst/>
          </a:prstGeom>
          <a:noFill/>
          <a:ln>
            <a:noFill/>
          </a:ln>
        </p:spPr>
      </p:pic>
      <p:pic>
        <p:nvPicPr>
          <p:cNvPr id="174" name="Google Shape;174;p27"/>
          <p:cNvPicPr preferRelativeResize="0"/>
          <p:nvPr/>
        </p:nvPicPr>
        <p:blipFill>
          <a:blip r:embed="rId4">
            <a:alphaModFix/>
          </a:blip>
          <a:stretch>
            <a:fillRect/>
          </a:stretch>
        </p:blipFill>
        <p:spPr>
          <a:xfrm>
            <a:off x="4866150" y="832075"/>
            <a:ext cx="4149974" cy="2334374"/>
          </a:xfrm>
          <a:prstGeom prst="rect">
            <a:avLst/>
          </a:prstGeom>
          <a:noFill/>
          <a:ln>
            <a:noFill/>
          </a:ln>
        </p:spPr>
      </p:pic>
      <p:sp>
        <p:nvSpPr>
          <p:cNvPr id="175" name="Google Shape;175;p27"/>
          <p:cNvSpPr txBox="1"/>
          <p:nvPr>
            <p:ph idx="1" type="body"/>
          </p:nvPr>
        </p:nvSpPr>
        <p:spPr>
          <a:xfrm>
            <a:off x="4866150" y="3243075"/>
            <a:ext cx="4149900" cy="153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Exploit player impatience</a:t>
            </a:r>
            <a:endParaRPr>
              <a:latin typeface="Impact"/>
              <a:ea typeface="Impact"/>
              <a:cs typeface="Impact"/>
              <a:sym typeface="Impact"/>
            </a:endParaRPr>
          </a:p>
          <a:p>
            <a:pPr indent="0" lvl="0" marL="0" rtl="0" algn="l">
              <a:spcBef>
                <a:spcPts val="1200"/>
              </a:spcBef>
              <a:spcAft>
                <a:spcPts val="1200"/>
              </a:spcAft>
              <a:buNone/>
            </a:pPr>
            <a:r>
              <a:rPr lang="en-GB">
                <a:latin typeface="Times New Roman"/>
                <a:ea typeface="Times New Roman"/>
                <a:cs typeface="Times New Roman"/>
                <a:sym typeface="Times New Roman"/>
              </a:rPr>
              <a:t>Speed up Construction</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How are Premium Currencies made Desirable?</a:t>
            </a:r>
            <a:endParaRPr/>
          </a:p>
        </p:txBody>
      </p:sp>
      <p:sp>
        <p:nvSpPr>
          <p:cNvPr id="181" name="Google Shape;181;p28"/>
          <p:cNvSpPr txBox="1"/>
          <p:nvPr>
            <p:ph idx="1" type="body"/>
          </p:nvPr>
        </p:nvSpPr>
        <p:spPr>
          <a:xfrm>
            <a:off x="311700" y="914850"/>
            <a:ext cx="4492500" cy="182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Sociability</a:t>
            </a:r>
            <a:endParaRPr>
              <a:latin typeface="Impact"/>
              <a:ea typeface="Impact"/>
              <a:cs typeface="Impact"/>
              <a:sym typeface="Impact"/>
            </a:endParaRPr>
          </a:p>
          <a:p>
            <a:pPr indent="0" lvl="0" marL="0" rtl="0" algn="l">
              <a:spcBef>
                <a:spcPts val="1200"/>
              </a:spcBef>
              <a:spcAft>
                <a:spcPts val="0"/>
              </a:spcAft>
              <a:buNone/>
            </a:pPr>
            <a:r>
              <a:rPr lang="en-GB">
                <a:latin typeface="Times New Roman"/>
                <a:ea typeface="Times New Roman"/>
                <a:cs typeface="Times New Roman"/>
                <a:sym typeface="Times New Roman"/>
              </a:rPr>
              <a:t>Competition</a:t>
            </a:r>
            <a:endParaRPr>
              <a:latin typeface="Times New Roman"/>
              <a:ea typeface="Times New Roman"/>
              <a:cs typeface="Times New Roman"/>
              <a:sym typeface="Times New Roman"/>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Other Clans</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Other Players</a:t>
            </a:r>
            <a:endParaRPr>
              <a:latin typeface="Times New Roman"/>
              <a:ea typeface="Times New Roman"/>
              <a:cs typeface="Times New Roman"/>
              <a:sym typeface="Times New Roman"/>
            </a:endParaRPr>
          </a:p>
        </p:txBody>
      </p:sp>
      <p:pic>
        <p:nvPicPr>
          <p:cNvPr id="182" name="Google Shape;182;p28"/>
          <p:cNvPicPr preferRelativeResize="0"/>
          <p:nvPr/>
        </p:nvPicPr>
        <p:blipFill>
          <a:blip r:embed="rId3">
            <a:alphaModFix/>
          </a:blip>
          <a:stretch>
            <a:fillRect/>
          </a:stretch>
        </p:blipFill>
        <p:spPr>
          <a:xfrm>
            <a:off x="4956600" y="984475"/>
            <a:ext cx="4035000" cy="2269688"/>
          </a:xfrm>
          <a:prstGeom prst="rect">
            <a:avLst/>
          </a:prstGeom>
          <a:noFill/>
          <a:ln>
            <a:noFill/>
          </a:ln>
        </p:spPr>
      </p:pic>
      <p:pic>
        <p:nvPicPr>
          <p:cNvPr id="183" name="Google Shape;183;p28"/>
          <p:cNvPicPr preferRelativeResize="0"/>
          <p:nvPr/>
        </p:nvPicPr>
        <p:blipFill>
          <a:blip r:embed="rId4">
            <a:alphaModFix/>
          </a:blip>
          <a:stretch>
            <a:fillRect/>
          </a:stretch>
        </p:blipFill>
        <p:spPr>
          <a:xfrm>
            <a:off x="311700" y="2613150"/>
            <a:ext cx="4301082" cy="2419350"/>
          </a:xfrm>
          <a:prstGeom prst="rect">
            <a:avLst/>
          </a:prstGeom>
          <a:noFill/>
          <a:ln>
            <a:noFill/>
          </a:ln>
        </p:spPr>
      </p:pic>
      <p:sp>
        <p:nvSpPr>
          <p:cNvPr id="184" name="Google Shape;184;p28"/>
          <p:cNvSpPr txBox="1"/>
          <p:nvPr>
            <p:ph idx="1" type="body"/>
          </p:nvPr>
        </p:nvSpPr>
        <p:spPr>
          <a:xfrm>
            <a:off x="4727850" y="3406575"/>
            <a:ext cx="4492500" cy="159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Comparison</a:t>
            </a:r>
            <a:endParaRPr>
              <a:latin typeface="Times New Roman"/>
              <a:ea typeface="Times New Roman"/>
              <a:cs typeface="Times New Roman"/>
              <a:sym typeface="Times New Roman"/>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Other Clans</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Other Players</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Friends</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How gems affect player decisions?</a:t>
            </a:r>
            <a:endParaRPr/>
          </a:p>
        </p:txBody>
      </p:sp>
      <p:pic>
        <p:nvPicPr>
          <p:cNvPr id="190" name="Google Shape;190;p29"/>
          <p:cNvPicPr preferRelativeResize="0"/>
          <p:nvPr/>
        </p:nvPicPr>
        <p:blipFill>
          <a:blip r:embed="rId3">
            <a:alphaModFix/>
          </a:blip>
          <a:stretch>
            <a:fillRect/>
          </a:stretch>
        </p:blipFill>
        <p:spPr>
          <a:xfrm>
            <a:off x="1052775" y="832075"/>
            <a:ext cx="7122888" cy="40066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194" name="Shape 194"/>
        <p:cNvGrpSpPr/>
        <p:nvPr/>
      </p:nvGrpSpPr>
      <p:grpSpPr>
        <a:xfrm>
          <a:off x="0" y="0"/>
          <a:ext cx="0" cy="0"/>
          <a:chOff x="0" y="0"/>
          <a:chExt cx="0" cy="0"/>
        </a:xfrm>
      </p:grpSpPr>
      <p:sp>
        <p:nvSpPr>
          <p:cNvPr id="195" name="Google Shape;195;p30"/>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gems affect player decisions?</a:t>
            </a:r>
            <a:endParaRPr/>
          </a:p>
        </p:txBody>
      </p:sp>
      <p:sp>
        <p:nvSpPr>
          <p:cNvPr id="196" name="Google Shape;196;p30"/>
          <p:cNvSpPr txBox="1"/>
          <p:nvPr>
            <p:ph idx="1" type="body"/>
          </p:nvPr>
        </p:nvSpPr>
        <p:spPr>
          <a:xfrm>
            <a:off x="311700" y="914850"/>
            <a:ext cx="4492500" cy="1827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latin typeface="Impact"/>
                <a:ea typeface="Impact"/>
                <a:cs typeface="Impact"/>
                <a:sym typeface="Impact"/>
              </a:rPr>
              <a:t>Scarcity and Hoarding</a:t>
            </a:r>
            <a:endParaRPr>
              <a:latin typeface="Impact"/>
              <a:ea typeface="Impact"/>
              <a:cs typeface="Impact"/>
              <a:sym typeface="Impact"/>
            </a:endParaRPr>
          </a:p>
          <a:p>
            <a:pPr indent="0" lvl="0" marL="0" rtl="0" algn="l">
              <a:spcBef>
                <a:spcPts val="1200"/>
              </a:spcBef>
              <a:spcAft>
                <a:spcPts val="0"/>
              </a:spcAft>
              <a:buNone/>
            </a:pPr>
            <a:r>
              <a:rPr lang="en-GB">
                <a:latin typeface="Times New Roman"/>
                <a:ea typeface="Times New Roman"/>
                <a:cs typeface="Times New Roman"/>
                <a:sym typeface="Times New Roman"/>
              </a:rPr>
              <a:t>Gems</a:t>
            </a:r>
            <a:endParaRPr>
              <a:latin typeface="Times New Roman"/>
              <a:ea typeface="Times New Roman"/>
              <a:cs typeface="Times New Roman"/>
              <a:sym typeface="Times New Roman"/>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Players save up</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Try not to spend</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Never use all of them</a:t>
            </a:r>
            <a:endParaRPr>
              <a:latin typeface="Times New Roman"/>
              <a:ea typeface="Times New Roman"/>
              <a:cs typeface="Times New Roman"/>
              <a:sym typeface="Times New Roman"/>
            </a:endParaRPr>
          </a:p>
        </p:txBody>
      </p:sp>
      <p:sp>
        <p:nvSpPr>
          <p:cNvPr id="197" name="Google Shape;197;p30"/>
          <p:cNvSpPr txBox="1"/>
          <p:nvPr>
            <p:ph idx="1" type="body"/>
          </p:nvPr>
        </p:nvSpPr>
        <p:spPr>
          <a:xfrm>
            <a:off x="4727850" y="3406575"/>
            <a:ext cx="4492500" cy="15903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GB">
                <a:latin typeface="Times New Roman"/>
                <a:ea typeface="Times New Roman"/>
                <a:cs typeface="Times New Roman"/>
                <a:sym typeface="Times New Roman"/>
              </a:rPr>
              <a:t>Gold &amp; Elixir </a:t>
            </a:r>
            <a:endParaRPr>
              <a:latin typeface="Times New Roman"/>
              <a:ea typeface="Times New Roman"/>
              <a:cs typeface="Times New Roman"/>
              <a:sym typeface="Times New Roman"/>
            </a:endParaRPr>
          </a:p>
          <a:p>
            <a:pPr indent="-334327" lvl="0" marL="457200" rtl="0" algn="l">
              <a:spcBef>
                <a:spcPts val="1200"/>
              </a:spcBef>
              <a:spcAft>
                <a:spcPts val="0"/>
              </a:spcAft>
              <a:buSzPct val="100000"/>
              <a:buFont typeface="Times New Roman"/>
              <a:buChar char="-"/>
            </a:pPr>
            <a:r>
              <a:rPr lang="en-GB">
                <a:latin typeface="Times New Roman"/>
                <a:ea typeface="Times New Roman"/>
                <a:cs typeface="Times New Roman"/>
                <a:sym typeface="Times New Roman"/>
              </a:rPr>
              <a:t>Can regain completely in a few hours or days</a:t>
            </a:r>
            <a:endParaRPr>
              <a:latin typeface="Times New Roman"/>
              <a:ea typeface="Times New Roman"/>
              <a:cs typeface="Times New Roman"/>
              <a:sym typeface="Times New Roman"/>
            </a:endParaRPr>
          </a:p>
          <a:p>
            <a:pPr indent="-334327" lvl="0" marL="457200" rtl="0" algn="l">
              <a:spcBef>
                <a:spcPts val="0"/>
              </a:spcBef>
              <a:spcAft>
                <a:spcPts val="0"/>
              </a:spcAft>
              <a:buSzPct val="100000"/>
              <a:buFont typeface="Times New Roman"/>
              <a:buChar char="-"/>
            </a:pPr>
            <a:r>
              <a:rPr lang="en-GB">
                <a:latin typeface="Times New Roman"/>
                <a:ea typeface="Times New Roman"/>
                <a:cs typeface="Times New Roman"/>
                <a:sym typeface="Times New Roman"/>
              </a:rPr>
              <a:t>Use freely</a:t>
            </a:r>
            <a:endParaRPr>
              <a:latin typeface="Times New Roman"/>
              <a:ea typeface="Times New Roman"/>
              <a:cs typeface="Times New Roman"/>
              <a:sym typeface="Times New Roman"/>
            </a:endParaRPr>
          </a:p>
          <a:p>
            <a:pPr indent="-334327" lvl="0" marL="457200" rtl="0" algn="l">
              <a:spcBef>
                <a:spcPts val="0"/>
              </a:spcBef>
              <a:spcAft>
                <a:spcPts val="0"/>
              </a:spcAft>
              <a:buSzPct val="100000"/>
              <a:buFont typeface="Times New Roman"/>
              <a:buChar char="-"/>
            </a:pPr>
            <a:r>
              <a:rPr lang="en-GB">
                <a:latin typeface="Times New Roman"/>
                <a:ea typeface="Times New Roman"/>
                <a:cs typeface="Times New Roman"/>
                <a:sym typeface="Times New Roman"/>
              </a:rPr>
              <a:t>Okay to spend it all</a:t>
            </a:r>
            <a:endParaRPr>
              <a:latin typeface="Times New Roman"/>
              <a:ea typeface="Times New Roman"/>
              <a:cs typeface="Times New Roman"/>
              <a:sym typeface="Times New Roman"/>
            </a:endParaRPr>
          </a:p>
        </p:txBody>
      </p:sp>
      <p:pic>
        <p:nvPicPr>
          <p:cNvPr id="198" name="Google Shape;198;p30"/>
          <p:cNvPicPr preferRelativeResize="0"/>
          <p:nvPr/>
        </p:nvPicPr>
        <p:blipFill>
          <a:blip r:embed="rId3">
            <a:alphaModFix/>
          </a:blip>
          <a:stretch>
            <a:fillRect/>
          </a:stretch>
        </p:blipFill>
        <p:spPr>
          <a:xfrm>
            <a:off x="5204975" y="255200"/>
            <a:ext cx="3147200" cy="3147200"/>
          </a:xfrm>
          <a:prstGeom prst="rect">
            <a:avLst/>
          </a:prstGeom>
          <a:noFill/>
          <a:ln>
            <a:noFill/>
          </a:ln>
        </p:spPr>
      </p:pic>
      <p:pic>
        <p:nvPicPr>
          <p:cNvPr id="199" name="Google Shape;199;p30"/>
          <p:cNvPicPr preferRelativeResize="0"/>
          <p:nvPr/>
        </p:nvPicPr>
        <p:blipFill>
          <a:blip r:embed="rId4">
            <a:alphaModFix/>
          </a:blip>
          <a:stretch>
            <a:fillRect/>
          </a:stretch>
        </p:blipFill>
        <p:spPr>
          <a:xfrm>
            <a:off x="311700" y="2742750"/>
            <a:ext cx="3924830" cy="2254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203" name="Shape 203"/>
        <p:cNvGrpSpPr/>
        <p:nvPr/>
      </p:nvGrpSpPr>
      <p:grpSpPr>
        <a:xfrm>
          <a:off x="0" y="0"/>
          <a:ext cx="0" cy="0"/>
          <a:chOff x="0" y="0"/>
          <a:chExt cx="0" cy="0"/>
        </a:xfrm>
      </p:grpSpPr>
      <p:sp>
        <p:nvSpPr>
          <p:cNvPr id="204" name="Google Shape;204;p31"/>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gems affect player decisions?</a:t>
            </a:r>
            <a:endParaRPr/>
          </a:p>
        </p:txBody>
      </p:sp>
      <p:sp>
        <p:nvSpPr>
          <p:cNvPr id="205" name="Google Shape;205;p31"/>
          <p:cNvSpPr txBox="1"/>
          <p:nvPr>
            <p:ph idx="1" type="body"/>
          </p:nvPr>
        </p:nvSpPr>
        <p:spPr>
          <a:xfrm>
            <a:off x="311700" y="914850"/>
            <a:ext cx="4492500" cy="1827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latin typeface="Impact"/>
                <a:ea typeface="Impact"/>
                <a:cs typeface="Impact"/>
                <a:sym typeface="Impact"/>
              </a:rPr>
              <a:t>Scarcity and Hoarding</a:t>
            </a:r>
            <a:endParaRPr>
              <a:latin typeface="Impact"/>
              <a:ea typeface="Impact"/>
              <a:cs typeface="Impact"/>
              <a:sym typeface="Impact"/>
            </a:endParaRPr>
          </a:p>
          <a:p>
            <a:pPr indent="0" lvl="0" marL="0" rtl="0" algn="l">
              <a:spcBef>
                <a:spcPts val="1200"/>
              </a:spcBef>
              <a:spcAft>
                <a:spcPts val="0"/>
              </a:spcAft>
              <a:buNone/>
            </a:pPr>
            <a:r>
              <a:rPr lang="en-GB">
                <a:latin typeface="Times New Roman"/>
                <a:ea typeface="Times New Roman"/>
                <a:cs typeface="Times New Roman"/>
                <a:sym typeface="Times New Roman"/>
              </a:rPr>
              <a:t>Gems</a:t>
            </a:r>
            <a:endParaRPr>
              <a:latin typeface="Times New Roman"/>
              <a:ea typeface="Times New Roman"/>
              <a:cs typeface="Times New Roman"/>
              <a:sym typeface="Times New Roman"/>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Players save up</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Try not to spend</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Never use all of them</a:t>
            </a:r>
            <a:endParaRPr>
              <a:latin typeface="Times New Roman"/>
              <a:ea typeface="Times New Roman"/>
              <a:cs typeface="Times New Roman"/>
              <a:sym typeface="Times New Roman"/>
            </a:endParaRPr>
          </a:p>
        </p:txBody>
      </p:sp>
      <p:sp>
        <p:nvSpPr>
          <p:cNvPr id="206" name="Google Shape;206;p31"/>
          <p:cNvSpPr txBox="1"/>
          <p:nvPr>
            <p:ph idx="1" type="body"/>
          </p:nvPr>
        </p:nvSpPr>
        <p:spPr>
          <a:xfrm>
            <a:off x="4727850" y="3406575"/>
            <a:ext cx="4492500" cy="15903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GB">
                <a:latin typeface="Times New Roman"/>
                <a:ea typeface="Times New Roman"/>
                <a:cs typeface="Times New Roman"/>
                <a:sym typeface="Times New Roman"/>
              </a:rPr>
              <a:t>Gold &amp; Elixir </a:t>
            </a:r>
            <a:endParaRPr>
              <a:latin typeface="Times New Roman"/>
              <a:ea typeface="Times New Roman"/>
              <a:cs typeface="Times New Roman"/>
              <a:sym typeface="Times New Roman"/>
            </a:endParaRPr>
          </a:p>
          <a:p>
            <a:pPr indent="-334327" lvl="0" marL="457200" rtl="0" algn="l">
              <a:spcBef>
                <a:spcPts val="1200"/>
              </a:spcBef>
              <a:spcAft>
                <a:spcPts val="0"/>
              </a:spcAft>
              <a:buSzPct val="100000"/>
              <a:buFont typeface="Times New Roman"/>
              <a:buChar char="-"/>
            </a:pPr>
            <a:r>
              <a:rPr lang="en-GB">
                <a:latin typeface="Times New Roman"/>
                <a:ea typeface="Times New Roman"/>
                <a:cs typeface="Times New Roman"/>
                <a:sym typeface="Times New Roman"/>
              </a:rPr>
              <a:t>Can regain completely in a few hours or days</a:t>
            </a:r>
            <a:endParaRPr>
              <a:latin typeface="Times New Roman"/>
              <a:ea typeface="Times New Roman"/>
              <a:cs typeface="Times New Roman"/>
              <a:sym typeface="Times New Roman"/>
            </a:endParaRPr>
          </a:p>
          <a:p>
            <a:pPr indent="-334327" lvl="0" marL="457200" rtl="0" algn="l">
              <a:spcBef>
                <a:spcPts val="0"/>
              </a:spcBef>
              <a:spcAft>
                <a:spcPts val="0"/>
              </a:spcAft>
              <a:buSzPct val="100000"/>
              <a:buFont typeface="Times New Roman"/>
              <a:buChar char="-"/>
            </a:pPr>
            <a:r>
              <a:rPr lang="en-GB">
                <a:latin typeface="Times New Roman"/>
                <a:ea typeface="Times New Roman"/>
                <a:cs typeface="Times New Roman"/>
                <a:sym typeface="Times New Roman"/>
              </a:rPr>
              <a:t>Use freely</a:t>
            </a:r>
            <a:endParaRPr>
              <a:latin typeface="Times New Roman"/>
              <a:ea typeface="Times New Roman"/>
              <a:cs typeface="Times New Roman"/>
              <a:sym typeface="Times New Roman"/>
            </a:endParaRPr>
          </a:p>
          <a:p>
            <a:pPr indent="-334327" lvl="0" marL="457200" rtl="0" algn="l">
              <a:spcBef>
                <a:spcPts val="0"/>
              </a:spcBef>
              <a:spcAft>
                <a:spcPts val="0"/>
              </a:spcAft>
              <a:buSzPct val="100000"/>
              <a:buFont typeface="Times New Roman"/>
              <a:buChar char="-"/>
            </a:pPr>
            <a:r>
              <a:rPr lang="en-GB">
                <a:latin typeface="Times New Roman"/>
                <a:ea typeface="Times New Roman"/>
                <a:cs typeface="Times New Roman"/>
                <a:sym typeface="Times New Roman"/>
              </a:rPr>
              <a:t>Okay to spend it all</a:t>
            </a:r>
            <a:endParaRPr>
              <a:latin typeface="Times New Roman"/>
              <a:ea typeface="Times New Roman"/>
              <a:cs typeface="Times New Roman"/>
              <a:sym typeface="Times New Roman"/>
            </a:endParaRPr>
          </a:p>
        </p:txBody>
      </p:sp>
      <p:pic>
        <p:nvPicPr>
          <p:cNvPr id="207" name="Google Shape;207;p31"/>
          <p:cNvPicPr preferRelativeResize="0"/>
          <p:nvPr/>
        </p:nvPicPr>
        <p:blipFill>
          <a:blip r:embed="rId3">
            <a:alphaModFix/>
          </a:blip>
          <a:stretch>
            <a:fillRect/>
          </a:stretch>
        </p:blipFill>
        <p:spPr>
          <a:xfrm>
            <a:off x="5204975" y="255200"/>
            <a:ext cx="3147200" cy="3147200"/>
          </a:xfrm>
          <a:prstGeom prst="rect">
            <a:avLst/>
          </a:prstGeom>
          <a:noFill/>
          <a:ln>
            <a:noFill/>
          </a:ln>
        </p:spPr>
      </p:pic>
      <p:pic>
        <p:nvPicPr>
          <p:cNvPr id="208" name="Google Shape;208;p31"/>
          <p:cNvPicPr preferRelativeResize="0"/>
          <p:nvPr/>
        </p:nvPicPr>
        <p:blipFill>
          <a:blip r:embed="rId4">
            <a:alphaModFix/>
          </a:blip>
          <a:stretch>
            <a:fillRect/>
          </a:stretch>
        </p:blipFill>
        <p:spPr>
          <a:xfrm>
            <a:off x="311700" y="2742750"/>
            <a:ext cx="3924830" cy="2254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212" name="Shape 212"/>
        <p:cNvGrpSpPr/>
        <p:nvPr/>
      </p:nvGrpSpPr>
      <p:grpSpPr>
        <a:xfrm>
          <a:off x="0" y="0"/>
          <a:ext cx="0" cy="0"/>
          <a:chOff x="0" y="0"/>
          <a:chExt cx="0" cy="0"/>
        </a:xfrm>
      </p:grpSpPr>
      <p:sp>
        <p:nvSpPr>
          <p:cNvPr id="213" name="Google Shape;213;p32"/>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gems affect player decisions?</a:t>
            </a:r>
            <a:endParaRPr/>
          </a:p>
        </p:txBody>
      </p:sp>
      <p:sp>
        <p:nvSpPr>
          <p:cNvPr id="214" name="Google Shape;214;p32"/>
          <p:cNvSpPr txBox="1"/>
          <p:nvPr>
            <p:ph idx="1" type="body"/>
          </p:nvPr>
        </p:nvSpPr>
        <p:spPr>
          <a:xfrm>
            <a:off x="311700" y="914850"/>
            <a:ext cx="4492500" cy="402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Impact"/>
                <a:ea typeface="Impact"/>
                <a:cs typeface="Impact"/>
                <a:sym typeface="Impact"/>
              </a:rPr>
              <a:t>Waiting is </a:t>
            </a:r>
            <a:r>
              <a:rPr lang="en-GB">
                <a:latin typeface="Impact"/>
                <a:ea typeface="Impact"/>
                <a:cs typeface="Impact"/>
                <a:sym typeface="Impact"/>
              </a:rPr>
              <a:t>Worse</a:t>
            </a:r>
            <a:endParaRPr>
              <a:latin typeface="Impact"/>
              <a:ea typeface="Impact"/>
              <a:cs typeface="Impact"/>
              <a:sym typeface="Impact"/>
            </a:endParaRPr>
          </a:p>
          <a:p>
            <a:pPr indent="-342900" lvl="0" marL="457200" rtl="0" algn="l">
              <a:spcBef>
                <a:spcPts val="1200"/>
              </a:spcBef>
              <a:spcAft>
                <a:spcPts val="0"/>
              </a:spcAft>
              <a:buSzPts val="1800"/>
              <a:buFont typeface="Times New Roman"/>
              <a:buChar char="-"/>
            </a:pPr>
            <a:r>
              <a:rPr lang="en-GB">
                <a:latin typeface="Times New Roman"/>
                <a:ea typeface="Times New Roman"/>
                <a:cs typeface="Times New Roman"/>
                <a:sym typeface="Times New Roman"/>
              </a:rPr>
              <a:t>Waiting is worse when you know you don’t have to do it.</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GB">
                <a:latin typeface="Times New Roman"/>
                <a:ea typeface="Times New Roman"/>
                <a:cs typeface="Times New Roman"/>
                <a:sym typeface="Times New Roman"/>
              </a:rPr>
              <a:t>You have to wait for buildings to build in </a:t>
            </a:r>
            <a:r>
              <a:rPr lang="en-GB">
                <a:latin typeface="Times New Roman"/>
                <a:ea typeface="Times New Roman"/>
                <a:cs typeface="Times New Roman"/>
                <a:sym typeface="Times New Roman"/>
              </a:rPr>
              <a:t>strategy games. If you saw someone else doing it in a multiplayer game you would want to do it but if you never saw it you’d never care.</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Line Skip Pass</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GB">
                <a:latin typeface="Times New Roman"/>
                <a:ea typeface="Times New Roman"/>
                <a:cs typeface="Times New Roman"/>
                <a:sym typeface="Times New Roman"/>
              </a:rPr>
              <a:t>Seeing other </a:t>
            </a:r>
            <a:r>
              <a:rPr lang="en-GB">
                <a:latin typeface="Times New Roman"/>
                <a:ea typeface="Times New Roman"/>
                <a:cs typeface="Times New Roman"/>
                <a:sym typeface="Times New Roman"/>
              </a:rPr>
              <a:t>people</a:t>
            </a:r>
            <a:r>
              <a:rPr lang="en-GB">
                <a:latin typeface="Times New Roman"/>
                <a:ea typeface="Times New Roman"/>
                <a:cs typeface="Times New Roman"/>
                <a:sym typeface="Times New Roman"/>
              </a:rPr>
              <a:t> skip the line at a themepark makes you want to do it.</a:t>
            </a:r>
            <a:endParaRPr>
              <a:latin typeface="Times New Roman"/>
              <a:ea typeface="Times New Roman"/>
              <a:cs typeface="Times New Roman"/>
              <a:sym typeface="Times New Roman"/>
            </a:endParaRPr>
          </a:p>
          <a:p>
            <a:pPr indent="-317500" lvl="1" marL="914400" rtl="0" algn="l">
              <a:spcBef>
                <a:spcPts val="0"/>
              </a:spcBef>
              <a:spcAft>
                <a:spcPts val="0"/>
              </a:spcAft>
              <a:buSzPts val="1400"/>
              <a:buFont typeface="Times New Roman"/>
              <a:buChar char="-"/>
            </a:pPr>
            <a:r>
              <a:rPr lang="en-GB">
                <a:latin typeface="Times New Roman"/>
                <a:ea typeface="Times New Roman"/>
                <a:cs typeface="Times New Roman"/>
                <a:sym typeface="Times New Roman"/>
              </a:rPr>
              <a:t>Most people wouldn’t think of a fast lane but once they see others have it they want it.</a:t>
            </a:r>
            <a:endParaRPr>
              <a:latin typeface="Times New Roman"/>
              <a:ea typeface="Times New Roman"/>
              <a:cs typeface="Times New Roman"/>
              <a:sym typeface="Times New Roman"/>
            </a:endParaRPr>
          </a:p>
        </p:txBody>
      </p:sp>
      <p:pic>
        <p:nvPicPr>
          <p:cNvPr id="215" name="Google Shape;215;p32"/>
          <p:cNvPicPr preferRelativeResize="0"/>
          <p:nvPr/>
        </p:nvPicPr>
        <p:blipFill>
          <a:blip r:embed="rId3">
            <a:alphaModFix/>
          </a:blip>
          <a:stretch>
            <a:fillRect/>
          </a:stretch>
        </p:blipFill>
        <p:spPr>
          <a:xfrm>
            <a:off x="4946250" y="901279"/>
            <a:ext cx="3973475" cy="3340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D412"/>
        </a:solidFill>
      </p:bgPr>
    </p:bg>
    <p:spTree>
      <p:nvGrpSpPr>
        <p:cNvPr id="219" name="Shape 219"/>
        <p:cNvGrpSpPr/>
        <p:nvPr/>
      </p:nvGrpSpPr>
      <p:grpSpPr>
        <a:xfrm>
          <a:off x="0" y="0"/>
          <a:ext cx="0" cy="0"/>
          <a:chOff x="0" y="0"/>
          <a:chExt cx="0" cy="0"/>
        </a:xfrm>
      </p:grpSpPr>
      <p:sp>
        <p:nvSpPr>
          <p:cNvPr id="220" name="Google Shape;220;p33"/>
          <p:cNvSpPr txBox="1"/>
          <p:nvPr>
            <p:ph type="title"/>
          </p:nvPr>
        </p:nvSpPr>
        <p:spPr>
          <a:xfrm>
            <a:off x="311700" y="259375"/>
            <a:ext cx="8583300" cy="9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5000"/>
              <a:t>Question!</a:t>
            </a:r>
            <a:endParaRPr sz="5000"/>
          </a:p>
        </p:txBody>
      </p:sp>
      <p:sp>
        <p:nvSpPr>
          <p:cNvPr id="221" name="Google Shape;221;p33"/>
          <p:cNvSpPr txBox="1"/>
          <p:nvPr>
            <p:ph idx="1" type="body"/>
          </p:nvPr>
        </p:nvSpPr>
        <p:spPr>
          <a:xfrm>
            <a:off x="311700" y="1235675"/>
            <a:ext cx="4430400" cy="3787800"/>
          </a:xfrm>
          <a:prstGeom prst="rect">
            <a:avLst/>
          </a:prstGeom>
        </p:spPr>
        <p:txBody>
          <a:bodyPr anchorCtr="0" anchor="t" bIns="91425" lIns="91425" spcFirstLastPara="1" rIns="91425" wrap="square" tIns="91425">
            <a:normAutofit/>
          </a:bodyPr>
          <a:lstStyle/>
          <a:p>
            <a:pPr indent="-412750" lvl="0" marL="457200" rtl="0" algn="l">
              <a:spcBef>
                <a:spcPts val="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An example of when a game exploited player impatience</a:t>
            </a:r>
            <a:endParaRPr sz="2900">
              <a:solidFill>
                <a:schemeClr val="dk1"/>
              </a:solidFill>
              <a:latin typeface="Times New Roman"/>
              <a:ea typeface="Times New Roman"/>
              <a:cs typeface="Times New Roman"/>
              <a:sym typeface="Times New Roman"/>
            </a:endParaRPr>
          </a:p>
          <a:p>
            <a:pPr indent="-412750" lvl="0" marL="457200" rtl="0" algn="l">
              <a:spcBef>
                <a:spcPts val="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Example of how a game made the premium currency desirable</a:t>
            </a:r>
            <a:endParaRPr sz="2900">
              <a:solidFill>
                <a:schemeClr val="dk1"/>
              </a:solidFill>
              <a:latin typeface="Times New Roman"/>
              <a:ea typeface="Times New Roman"/>
              <a:cs typeface="Times New Roman"/>
              <a:sym typeface="Times New Roman"/>
            </a:endParaRPr>
          </a:p>
        </p:txBody>
      </p:sp>
      <p:pic>
        <p:nvPicPr>
          <p:cNvPr id="222" name="Google Shape;222;p33"/>
          <p:cNvPicPr preferRelativeResize="0"/>
          <p:nvPr/>
        </p:nvPicPr>
        <p:blipFill>
          <a:blip r:embed="rId3">
            <a:alphaModFix/>
          </a:blip>
          <a:stretch>
            <a:fillRect/>
          </a:stretch>
        </p:blipFill>
        <p:spPr>
          <a:xfrm>
            <a:off x="4741950" y="353000"/>
            <a:ext cx="4153000" cy="4153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6BD4C"/>
        </a:solidFill>
      </p:bgPr>
    </p:bg>
    <p:spTree>
      <p:nvGrpSpPr>
        <p:cNvPr id="226" name="Shape 226"/>
        <p:cNvGrpSpPr/>
        <p:nvPr/>
      </p:nvGrpSpPr>
      <p:grpSpPr>
        <a:xfrm>
          <a:off x="0" y="0"/>
          <a:ext cx="0" cy="0"/>
          <a:chOff x="0" y="0"/>
          <a:chExt cx="0" cy="0"/>
        </a:xfrm>
      </p:grpSpPr>
      <p:sp>
        <p:nvSpPr>
          <p:cNvPr id="227" name="Google Shape;227;p34"/>
          <p:cNvSpPr txBox="1"/>
          <p:nvPr>
            <p:ph type="title"/>
          </p:nvPr>
        </p:nvSpPr>
        <p:spPr>
          <a:xfrm>
            <a:off x="311700" y="259375"/>
            <a:ext cx="8583300" cy="9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GB" sz="5000"/>
              <a:t>Discussion</a:t>
            </a:r>
            <a:endParaRPr sz="5000"/>
          </a:p>
        </p:txBody>
      </p:sp>
      <p:sp>
        <p:nvSpPr>
          <p:cNvPr id="228" name="Google Shape;228;p34"/>
          <p:cNvSpPr txBox="1"/>
          <p:nvPr>
            <p:ph idx="1" type="body"/>
          </p:nvPr>
        </p:nvSpPr>
        <p:spPr>
          <a:xfrm>
            <a:off x="2913525" y="974000"/>
            <a:ext cx="3391200" cy="4018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2900">
                <a:solidFill>
                  <a:srgbClr val="F3F3F3"/>
                </a:solidFill>
                <a:latin typeface="Times New Roman"/>
                <a:ea typeface="Times New Roman"/>
                <a:cs typeface="Times New Roman"/>
                <a:sym typeface="Times New Roman"/>
              </a:rPr>
              <a:t>How has the Pinch </a:t>
            </a:r>
            <a:r>
              <a:rPr lang="en-GB" sz="2900">
                <a:solidFill>
                  <a:srgbClr val="F3F3F3"/>
                </a:solidFill>
                <a:latin typeface="Times New Roman"/>
                <a:ea typeface="Times New Roman"/>
                <a:cs typeface="Times New Roman"/>
                <a:sym typeface="Times New Roman"/>
              </a:rPr>
              <a:t>affected</a:t>
            </a:r>
            <a:r>
              <a:rPr lang="en-GB" sz="2900">
                <a:solidFill>
                  <a:srgbClr val="F3F3F3"/>
                </a:solidFill>
                <a:latin typeface="Times New Roman"/>
                <a:ea typeface="Times New Roman"/>
                <a:cs typeface="Times New Roman"/>
                <a:sym typeface="Times New Roman"/>
              </a:rPr>
              <a:t> you in games?</a:t>
            </a:r>
            <a:endParaRPr sz="2900">
              <a:solidFill>
                <a:srgbClr val="F3F3F3"/>
              </a:solidFill>
              <a:latin typeface="Times New Roman"/>
              <a:ea typeface="Times New Roman"/>
              <a:cs typeface="Times New Roman"/>
              <a:sym typeface="Times New Roman"/>
            </a:endParaRPr>
          </a:p>
          <a:p>
            <a:pPr indent="0" lvl="0" marL="0" rtl="0" algn="l">
              <a:spcBef>
                <a:spcPts val="1200"/>
              </a:spcBef>
              <a:spcAft>
                <a:spcPts val="0"/>
              </a:spcAft>
              <a:buNone/>
            </a:pPr>
            <a:r>
              <a:t/>
            </a:r>
            <a:endParaRPr sz="2900">
              <a:solidFill>
                <a:srgbClr val="F3F3F3"/>
              </a:solidFill>
              <a:latin typeface="Times New Roman"/>
              <a:ea typeface="Times New Roman"/>
              <a:cs typeface="Times New Roman"/>
              <a:sym typeface="Times New Roman"/>
            </a:endParaRPr>
          </a:p>
          <a:p>
            <a:pPr indent="0" lvl="0" marL="0" rtl="0" algn="l">
              <a:spcBef>
                <a:spcPts val="1200"/>
              </a:spcBef>
              <a:spcAft>
                <a:spcPts val="0"/>
              </a:spcAft>
              <a:buNone/>
            </a:pPr>
            <a:r>
              <a:t/>
            </a:r>
            <a:endParaRPr sz="2900">
              <a:solidFill>
                <a:srgbClr val="F3F3F3"/>
              </a:solidFill>
              <a:latin typeface="Times New Roman"/>
              <a:ea typeface="Times New Roman"/>
              <a:cs typeface="Times New Roman"/>
              <a:sym typeface="Times New Roman"/>
            </a:endParaRPr>
          </a:p>
          <a:p>
            <a:pPr indent="0" lvl="0" marL="0" rtl="0" algn="l">
              <a:spcBef>
                <a:spcPts val="1200"/>
              </a:spcBef>
              <a:spcAft>
                <a:spcPts val="0"/>
              </a:spcAft>
              <a:buNone/>
            </a:pPr>
            <a:r>
              <a:t/>
            </a:r>
            <a:endParaRPr sz="2900">
              <a:solidFill>
                <a:srgbClr val="F3F3F3"/>
              </a:solidFill>
              <a:latin typeface="Times New Roman"/>
              <a:ea typeface="Times New Roman"/>
              <a:cs typeface="Times New Roman"/>
              <a:sym typeface="Times New Roman"/>
            </a:endParaRPr>
          </a:p>
          <a:p>
            <a:pPr indent="0" lvl="0" marL="0" rtl="0" algn="l">
              <a:spcBef>
                <a:spcPts val="1200"/>
              </a:spcBef>
              <a:spcAft>
                <a:spcPts val="1200"/>
              </a:spcAft>
              <a:buNone/>
            </a:pPr>
            <a:r>
              <a:rPr lang="en-GB" sz="1600">
                <a:solidFill>
                  <a:srgbClr val="CCCCCC"/>
                </a:solidFill>
                <a:latin typeface="Times New Roman"/>
                <a:ea typeface="Times New Roman"/>
                <a:cs typeface="Times New Roman"/>
                <a:sym typeface="Times New Roman"/>
              </a:rPr>
              <a:t>The best Answer gets this stuffy</a:t>
            </a:r>
            <a:endParaRPr sz="1600">
              <a:solidFill>
                <a:srgbClr val="CCCCCC"/>
              </a:solidFill>
              <a:latin typeface="Times New Roman"/>
              <a:ea typeface="Times New Roman"/>
              <a:cs typeface="Times New Roman"/>
              <a:sym typeface="Times New Roman"/>
            </a:endParaRPr>
          </a:p>
        </p:txBody>
      </p:sp>
      <p:pic>
        <p:nvPicPr>
          <p:cNvPr id="229" name="Google Shape;229;p34" title="IMG_0679.jpg"/>
          <p:cNvPicPr preferRelativeResize="0"/>
          <p:nvPr/>
        </p:nvPicPr>
        <p:blipFill>
          <a:blip r:embed="rId3">
            <a:alphaModFix/>
          </a:blip>
          <a:stretch>
            <a:fillRect/>
          </a:stretch>
        </p:blipFill>
        <p:spPr>
          <a:xfrm>
            <a:off x="6353725" y="974000"/>
            <a:ext cx="2702342" cy="3603123"/>
          </a:xfrm>
          <a:prstGeom prst="rect">
            <a:avLst/>
          </a:prstGeom>
          <a:noFill/>
          <a:ln>
            <a:noFill/>
          </a:ln>
        </p:spPr>
      </p:pic>
      <p:pic>
        <p:nvPicPr>
          <p:cNvPr id="230" name="Google Shape;230;p34" title="IMG_0681.jpg"/>
          <p:cNvPicPr preferRelativeResize="0"/>
          <p:nvPr/>
        </p:nvPicPr>
        <p:blipFill>
          <a:blip r:embed="rId4">
            <a:alphaModFix/>
          </a:blip>
          <a:stretch>
            <a:fillRect/>
          </a:stretch>
        </p:blipFill>
        <p:spPr>
          <a:xfrm>
            <a:off x="211171" y="973992"/>
            <a:ext cx="2702350" cy="360313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234" name="Shape 234"/>
        <p:cNvGrpSpPr/>
        <p:nvPr/>
      </p:nvGrpSpPr>
      <p:grpSpPr>
        <a:xfrm>
          <a:off x="0" y="0"/>
          <a:ext cx="0" cy="0"/>
          <a:chOff x="0" y="0"/>
          <a:chExt cx="0" cy="0"/>
        </a:xfrm>
      </p:grpSpPr>
      <p:sp>
        <p:nvSpPr>
          <p:cNvPr id="235" name="Google Shape;235;p35"/>
          <p:cNvSpPr txBox="1"/>
          <p:nvPr>
            <p:ph type="title"/>
          </p:nvPr>
        </p:nvSpPr>
        <p:spPr>
          <a:xfrm>
            <a:off x="311700" y="259375"/>
            <a:ext cx="8520600" cy="453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sz="6000"/>
              <a:t>Thank you for L</a:t>
            </a:r>
            <a:r>
              <a:rPr lang="en-GB" sz="6000"/>
              <a:t>istening</a:t>
            </a:r>
            <a:r>
              <a:rPr lang="en-GB" sz="6000"/>
              <a:t> and </a:t>
            </a:r>
            <a:r>
              <a:rPr lang="en-GB" sz="6000"/>
              <a:t>Engaging! :)</a:t>
            </a:r>
            <a:endParaRPr sz="6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4253B"/>
            </a:gs>
            <a:gs pos="100000">
              <a:srgbClr val="87678C"/>
            </a:gs>
            <a:gs pos="100000">
              <a:srgbClr val="737373"/>
            </a:gs>
          </a:gsLst>
          <a:lin ang="16200038" scaled="0"/>
        </a:gradFill>
      </p:bgPr>
    </p:bg>
    <p:spTree>
      <p:nvGrpSpPr>
        <p:cNvPr id="239" name="Shape 239"/>
        <p:cNvGrpSpPr/>
        <p:nvPr/>
      </p:nvGrpSpPr>
      <p:grpSpPr>
        <a:xfrm>
          <a:off x="0" y="0"/>
          <a:ext cx="0" cy="0"/>
          <a:chOff x="0" y="0"/>
          <a:chExt cx="0" cy="0"/>
        </a:xfrm>
      </p:grpSpPr>
      <p:sp>
        <p:nvSpPr>
          <p:cNvPr id="240" name="Google Shape;240;p36"/>
          <p:cNvSpPr txBox="1"/>
          <p:nvPr>
            <p:ph type="title"/>
          </p:nvPr>
        </p:nvSpPr>
        <p:spPr>
          <a:xfrm>
            <a:off x="311700" y="259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Sources</a:t>
            </a:r>
            <a:endParaRPr/>
          </a:p>
        </p:txBody>
      </p:sp>
      <p:sp>
        <p:nvSpPr>
          <p:cNvPr id="241" name="Google Shape;241;p36"/>
          <p:cNvSpPr txBox="1"/>
          <p:nvPr>
            <p:ph idx="1" type="body"/>
          </p:nvPr>
        </p:nvSpPr>
        <p:spPr>
          <a:xfrm>
            <a:off x="311700" y="914850"/>
            <a:ext cx="8383500" cy="402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latin typeface="Times New Roman"/>
                <a:ea typeface="Times New Roman"/>
                <a:cs typeface="Times New Roman"/>
                <a:sym typeface="Times New Roman"/>
              </a:rPr>
              <a:t>Evans, E. (2016). The economics of free: Freemium games, branding and the impatience economy. Convergence, 22(6), 563-580.</a:t>
            </a:r>
            <a:endParaRPr>
              <a:latin typeface="Times New Roman"/>
              <a:ea typeface="Times New Roman"/>
              <a:cs typeface="Times New Roman"/>
              <a:sym typeface="Times New Roman"/>
            </a:endParaRPr>
          </a:p>
          <a:p>
            <a:pPr indent="0" lvl="0" marL="0" rtl="0" algn="l">
              <a:spcBef>
                <a:spcPts val="1200"/>
              </a:spcBef>
              <a:spcAft>
                <a:spcPts val="0"/>
              </a:spcAft>
              <a:buNone/>
            </a:pPr>
            <a:r>
              <a:rPr lang="en-GB">
                <a:latin typeface="Times New Roman"/>
                <a:ea typeface="Times New Roman"/>
                <a:cs typeface="Times New Roman"/>
                <a:sym typeface="Times New Roman"/>
              </a:rPr>
              <a:t>Musabirov, I., Bulygin, D., Okopny, P., &amp; Sirotkin, A. (2017). Deconstructing cosmetic virtual goods experiences in Dota 2. Proceedings of the 2017 CHI Conference on Human Factors in Computing Systems, 2054-2058.</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